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8"/>
  </p:notesMasterIdLst>
  <p:sldIdLst>
    <p:sldId id="262" r:id="rId3"/>
    <p:sldId id="707" r:id="rId4"/>
    <p:sldId id="257" r:id="rId5"/>
    <p:sldId id="904" r:id="rId6"/>
    <p:sldId id="903" r:id="rId7"/>
    <p:sldId id="902" r:id="rId8"/>
    <p:sldId id="258" r:id="rId9"/>
    <p:sldId id="905" r:id="rId10"/>
    <p:sldId id="259" r:id="rId11"/>
    <p:sldId id="906" r:id="rId12"/>
    <p:sldId id="260" r:id="rId13"/>
    <p:sldId id="907" r:id="rId14"/>
    <p:sldId id="908" r:id="rId15"/>
    <p:sldId id="909" r:id="rId16"/>
    <p:sldId id="91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chita nair" userId="3b4ef602b4a8d68c" providerId="LiveId" clId="{6B67A2C8-5945-4C69-BE44-2EB734B6380D}"/>
    <pc:docChg chg="modSld">
      <pc:chgData name="suchita nair" userId="3b4ef602b4a8d68c" providerId="LiveId" clId="{6B67A2C8-5945-4C69-BE44-2EB734B6380D}" dt="2026-10-29T05:36:16.187" v="1" actId="20577"/>
      <pc:docMkLst>
        <pc:docMk/>
      </pc:docMkLst>
      <pc:sldChg chg="modSp mod">
        <pc:chgData name="suchita nair" userId="3b4ef602b4a8d68c" providerId="LiveId" clId="{6B67A2C8-5945-4C69-BE44-2EB734B6380D}" dt="2026-10-29T05:36:16.187" v="1" actId="20577"/>
        <pc:sldMkLst>
          <pc:docMk/>
          <pc:sldMk cId="4022174947" sldId="905"/>
        </pc:sldMkLst>
        <pc:spChg chg="mod">
          <ac:chgData name="suchita nair" userId="3b4ef602b4a8d68c" providerId="LiveId" clId="{6B67A2C8-5945-4C69-BE44-2EB734B6380D}" dt="2026-10-29T05:36:16.187" v="1" actId="20577"/>
          <ac:spMkLst>
            <pc:docMk/>
            <pc:sldMk cId="4022174947" sldId="905"/>
            <ac:spMk id="10" creationId="{A10BEED1-8ADD-252F-F7BB-784572563BDC}"/>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1" qsCatId="3D" csTypeId="urn:microsoft.com/office/officeart/2005/8/colors/colorful1#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1">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10/29/2026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F19044B-B5AF-477C-950C-4ED51263438D}" type="slidenum">
              <a:rPr lang="en-US" smtClean="0"/>
              <a:t>5</a:t>
            </a:fld>
            <a:endParaRPr lang="en-US"/>
          </a:p>
        </p:txBody>
      </p:sp>
    </p:spTree>
    <p:extLst>
      <p:ext uri="{BB962C8B-B14F-4D97-AF65-F5344CB8AC3E}">
        <p14:creationId xmlns:p14="http://schemas.microsoft.com/office/powerpoint/2010/main" val="7574511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6</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F5B5F904-3F1F-4281-A9E1-C2FB746B8BF7}" type="datetime1">
              <a:rPr lang="en-US" smtClean="0"/>
              <a:t>10/29/2026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r>
              <a:rPr lang="en-US"/>
              <a:t>CNAD Project Review-1</a:t>
            </a:r>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081D6EA9-74F4-419E-9686-C1380811218E}" type="datetime1">
              <a:rPr lang="en-US" smtClean="0"/>
              <a:t>10/29/2026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r>
              <a:rPr lang="en-US"/>
              <a:t>CNAD Project Review-1</a:t>
            </a:r>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F876D309-B4D5-4527-B36F-A10579509D53}" type="datetime1">
              <a:rPr lang="en-US" smtClean="0"/>
              <a:t>10/29/2026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r>
              <a:rPr lang="en-US"/>
              <a:t>CNAD Project Review-1</a:t>
            </a:r>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9935E381-5B31-4AF8-B2D5-825A2871D21A}" type="datetime1">
              <a:rPr lang="en-US" smtClean="0"/>
              <a:t>10/29/2026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r>
              <a:rPr lang="en-US"/>
              <a:t>CNAD Project Review-1</a:t>
            </a:r>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B058F223-DE04-43B3-A1CA-82C024222846}" type="datetime1">
              <a:rPr lang="en-US" smtClean="0"/>
              <a:t>10/29/2026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r>
              <a:rPr lang="en-US"/>
              <a:t>CNAD Project Review-1</a:t>
            </a:r>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49DC939F-6452-40B3-8B30-A5C8AB6A0DFC}" type="datetime1">
              <a:rPr lang="en-US" smtClean="0"/>
              <a:t>10/29/2026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r>
              <a:rPr lang="en-US"/>
              <a:t>CNAD Project Review-1</a:t>
            </a:r>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5D43805D-913B-4F6D-902C-E5136FBF0E0C}" type="datetime1">
              <a:rPr lang="en-US" smtClean="0"/>
              <a:t>10/29/2026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r>
              <a:rPr lang="en-US"/>
              <a:t>CNAD Project Review-1</a:t>
            </a:r>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3BF5B214-4124-49D8-A24E-DBA27A6445C3}" type="datetime1">
              <a:rPr lang="en-US" smtClean="0"/>
              <a:t>10/29/2026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r>
              <a:rPr lang="en-US"/>
              <a:t>CNAD Project Review-1</a:t>
            </a:r>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D956CC-F7C8-47FB-89A1-FBAE32B2A8EB}" type="datetime1">
              <a:rPr lang="en-US" smtClean="0"/>
              <a:t>10/29/2026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r>
              <a:rPr lang="en-US"/>
              <a:t>CNAD Project Review-1</a:t>
            </a:r>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6FF10B40-B78B-4C4B-BDCF-3CB98651AC41}" type="datetime1">
              <a:rPr lang="en-US" smtClean="0"/>
              <a:t>10/29/2026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r>
              <a:rPr lang="en-US"/>
              <a:t>CNAD Project Review-1</a:t>
            </a:r>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4B7C7294-1103-4E07-87C3-AC60860F3AE3}" type="datetime1">
              <a:rPr lang="en-US" smtClean="0"/>
              <a:t>10/29/2026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r>
              <a:rPr lang="en-US"/>
              <a:t>CNAD Project Review-1</a:t>
            </a:r>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E591251-3688-4348-9E3A-30E567D55C4D}" type="datetime1">
              <a:rPr lang="en-US" smtClean="0"/>
              <a:t>10/29/2026</a:t>
            </a:fld>
            <a:endParaRPr lang="en-IN"/>
          </a:p>
        </p:txBody>
      </p:sp>
      <p:sp>
        <p:nvSpPr>
          <p:cNvPr id="5" name="Footer Placeholder 4"/>
          <p:cNvSpPr>
            <a:spLocks noGrp="1"/>
          </p:cNvSpPr>
          <p:nvPr>
            <p:ph type="ftr" sz="quarter" idx="11"/>
          </p:nvPr>
        </p:nvSpPr>
        <p:spPr/>
        <p:txBody>
          <a:bodyPr/>
          <a:lstStyle/>
          <a:p>
            <a:r>
              <a:rPr lang="en-IN"/>
              <a:t>CNAD Project Review-1</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9DBFDF-CDE2-40CB-8FA4-3CBB1CF54A9D}" type="datetime1">
              <a:rPr lang="en-US" smtClean="0"/>
              <a:t>10/29/2026</a:t>
            </a:fld>
            <a:endParaRPr lang="en-IN"/>
          </a:p>
        </p:txBody>
      </p:sp>
      <p:sp>
        <p:nvSpPr>
          <p:cNvPr id="5" name="Footer Placeholder 4"/>
          <p:cNvSpPr>
            <a:spLocks noGrp="1"/>
          </p:cNvSpPr>
          <p:nvPr>
            <p:ph type="ftr" sz="quarter" idx="11"/>
          </p:nvPr>
        </p:nvSpPr>
        <p:spPr/>
        <p:txBody>
          <a:bodyPr/>
          <a:lstStyle/>
          <a:p>
            <a:r>
              <a:rPr lang="en-IN"/>
              <a:t>CNAD Project Review-1</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1877594-F345-470B-9851-AAB51F8A07D1}" type="datetime1">
              <a:rPr lang="en-US" smtClean="0"/>
              <a:t>10/29/2026</a:t>
            </a:fld>
            <a:endParaRPr lang="en-IN"/>
          </a:p>
        </p:txBody>
      </p:sp>
      <p:sp>
        <p:nvSpPr>
          <p:cNvPr id="5" name="Footer Placeholder 4"/>
          <p:cNvSpPr>
            <a:spLocks noGrp="1"/>
          </p:cNvSpPr>
          <p:nvPr>
            <p:ph type="ftr" sz="quarter" idx="11"/>
          </p:nvPr>
        </p:nvSpPr>
        <p:spPr/>
        <p:txBody>
          <a:bodyPr/>
          <a:lstStyle/>
          <a:p>
            <a:r>
              <a:rPr lang="en-IN"/>
              <a:t>CNAD Project Review-1</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5114D82-1E80-4D9B-9F48-1603FF32D29B}" type="datetime1">
              <a:rPr lang="en-US" smtClean="0"/>
              <a:t>10/29/2026</a:t>
            </a:fld>
            <a:endParaRPr lang="en-IN"/>
          </a:p>
        </p:txBody>
      </p:sp>
      <p:sp>
        <p:nvSpPr>
          <p:cNvPr id="6" name="Footer Placeholder 5"/>
          <p:cNvSpPr>
            <a:spLocks noGrp="1"/>
          </p:cNvSpPr>
          <p:nvPr>
            <p:ph type="ftr" sz="quarter" idx="11"/>
          </p:nvPr>
        </p:nvSpPr>
        <p:spPr/>
        <p:txBody>
          <a:bodyPr/>
          <a:lstStyle/>
          <a:p>
            <a:r>
              <a:rPr lang="en-IN"/>
              <a:t>CNAD Project Review-1</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4F91D6D-4517-4318-8E63-BA647FC73676}" type="datetime1">
              <a:rPr lang="en-US" smtClean="0"/>
              <a:t>10/29/2026</a:t>
            </a:fld>
            <a:endParaRPr lang="en-IN"/>
          </a:p>
        </p:txBody>
      </p:sp>
      <p:sp>
        <p:nvSpPr>
          <p:cNvPr id="8" name="Footer Placeholder 7"/>
          <p:cNvSpPr>
            <a:spLocks noGrp="1"/>
          </p:cNvSpPr>
          <p:nvPr>
            <p:ph type="ftr" sz="quarter" idx="11"/>
          </p:nvPr>
        </p:nvSpPr>
        <p:spPr/>
        <p:txBody>
          <a:bodyPr/>
          <a:lstStyle/>
          <a:p>
            <a:r>
              <a:rPr lang="en-IN"/>
              <a:t>CNAD Project Review-1</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348BE11-45C9-4A33-91D6-F834346F8230}" type="datetime1">
              <a:rPr lang="en-US" smtClean="0"/>
              <a:t>10/29/2026</a:t>
            </a:fld>
            <a:endParaRPr lang="en-IN"/>
          </a:p>
        </p:txBody>
      </p:sp>
      <p:sp>
        <p:nvSpPr>
          <p:cNvPr id="4" name="Footer Placeholder 3"/>
          <p:cNvSpPr>
            <a:spLocks noGrp="1"/>
          </p:cNvSpPr>
          <p:nvPr>
            <p:ph type="ftr" sz="quarter" idx="11"/>
          </p:nvPr>
        </p:nvSpPr>
        <p:spPr/>
        <p:txBody>
          <a:bodyPr/>
          <a:lstStyle/>
          <a:p>
            <a:r>
              <a:rPr lang="en-IN"/>
              <a:t>CNAD Project Review-1</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C3F475-35D2-4DB4-B393-F0CB7E443F34}" type="datetime1">
              <a:rPr lang="en-US" smtClean="0"/>
              <a:t>10/29/2026</a:t>
            </a:fld>
            <a:endParaRPr lang="en-IN"/>
          </a:p>
        </p:txBody>
      </p:sp>
      <p:sp>
        <p:nvSpPr>
          <p:cNvPr id="3" name="Footer Placeholder 2"/>
          <p:cNvSpPr>
            <a:spLocks noGrp="1"/>
          </p:cNvSpPr>
          <p:nvPr>
            <p:ph type="ftr" sz="quarter" idx="11"/>
          </p:nvPr>
        </p:nvSpPr>
        <p:spPr/>
        <p:txBody>
          <a:bodyPr/>
          <a:lstStyle/>
          <a:p>
            <a:r>
              <a:rPr lang="en-IN"/>
              <a:t>CNAD Project Review-1</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C1F7173-3C06-4909-B7DB-53FA6C1C449E}" type="datetime1">
              <a:rPr lang="en-US" smtClean="0"/>
              <a:t>10/29/2026</a:t>
            </a:fld>
            <a:endParaRPr lang="en-IN"/>
          </a:p>
        </p:txBody>
      </p:sp>
      <p:sp>
        <p:nvSpPr>
          <p:cNvPr id="6" name="Footer Placeholder 5"/>
          <p:cNvSpPr>
            <a:spLocks noGrp="1"/>
          </p:cNvSpPr>
          <p:nvPr>
            <p:ph type="ftr" sz="quarter" idx="11"/>
          </p:nvPr>
        </p:nvSpPr>
        <p:spPr/>
        <p:txBody>
          <a:bodyPr/>
          <a:lstStyle/>
          <a:p>
            <a:r>
              <a:rPr lang="en-IN"/>
              <a:t>CNAD Project Review-1</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936B61D-E795-4B3F-91F2-8D80F4704BCD}" type="datetime1">
              <a:rPr lang="en-US" smtClean="0"/>
              <a:t>10/29/2026</a:t>
            </a:fld>
            <a:endParaRPr lang="en-IN"/>
          </a:p>
        </p:txBody>
      </p:sp>
      <p:sp>
        <p:nvSpPr>
          <p:cNvPr id="6" name="Footer Placeholder 5"/>
          <p:cNvSpPr>
            <a:spLocks noGrp="1"/>
          </p:cNvSpPr>
          <p:nvPr>
            <p:ph type="ftr" sz="quarter" idx="11"/>
          </p:nvPr>
        </p:nvSpPr>
        <p:spPr/>
        <p:txBody>
          <a:bodyPr/>
          <a:lstStyle/>
          <a:p>
            <a:r>
              <a:rPr lang="en-IN"/>
              <a:t>CNAD Project Review-1</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5192F9-85A8-474E-9101-6E509395F1D7}" type="datetime1">
              <a:rPr lang="en-US" smtClean="0"/>
              <a:t>10/29/2026</a:t>
            </a:fld>
            <a:endParaRPr lang="en-IN"/>
          </a:p>
        </p:txBody>
      </p:sp>
      <p:sp>
        <p:nvSpPr>
          <p:cNvPr id="5" name="Footer Placeholder 4"/>
          <p:cNvSpPr>
            <a:spLocks noGrp="1"/>
          </p:cNvSpPr>
          <p:nvPr>
            <p:ph type="ftr" sz="quarter" idx="11"/>
          </p:nvPr>
        </p:nvSpPr>
        <p:spPr/>
        <p:txBody>
          <a:bodyPr/>
          <a:lstStyle/>
          <a:p>
            <a:r>
              <a:rPr lang="en-IN"/>
              <a:t>CNAD Project Review-1</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AAA09B4-E520-4CE3-B3CD-968466114F87}" type="datetime1">
              <a:rPr lang="en-US" smtClean="0"/>
              <a:t>10/29/2026</a:t>
            </a:fld>
            <a:endParaRPr lang="en-IN"/>
          </a:p>
        </p:txBody>
      </p:sp>
      <p:sp>
        <p:nvSpPr>
          <p:cNvPr id="5" name="Footer Placeholder 4"/>
          <p:cNvSpPr>
            <a:spLocks noGrp="1"/>
          </p:cNvSpPr>
          <p:nvPr>
            <p:ph type="ftr" sz="quarter" idx="11"/>
          </p:nvPr>
        </p:nvSpPr>
        <p:spPr/>
        <p:txBody>
          <a:bodyPr/>
          <a:lstStyle/>
          <a:p>
            <a:r>
              <a:rPr lang="en-IN"/>
              <a:t>CNAD Project Review-1</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A1BE44B-A080-444E-B2F8-66835D348D22}" type="datetime1">
              <a:rPr lang="en-US" smtClean="0"/>
              <a:t>10/29/2026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CNAD Project Review-1</a:t>
            </a:r>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AF9358-0389-4EC9-8C09-403CD6E20950}" type="datetime1">
              <a:rPr lang="en-US" smtClean="0"/>
              <a:t>10/29/2026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CNAD Project Review-1</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1271584799"/>
              </p:ext>
            </p:extLst>
          </p:nvPr>
        </p:nvGraphicFramePr>
        <p:xfrm>
          <a:off x="8193271" y="4898509"/>
          <a:ext cx="2844800" cy="1280160"/>
        </p:xfrm>
        <a:graphic>
          <a:graphicData uri="http://schemas.openxmlformats.org/drawingml/2006/table">
            <a:tbl>
              <a:tblPr firstRow="1" bandRow="1">
                <a:tableStyleId>{5940675A-B579-460E-94D1-54222C63F5DA}</a:tableStyleId>
              </a:tblPr>
              <a:tblGrid>
                <a:gridCol w="2844800">
                  <a:extLst>
                    <a:ext uri="{9D8B030D-6E8A-4147-A177-3AD203B41FA5}">
                      <a16:colId xmlns:a16="http://schemas.microsoft.com/office/drawing/2014/main" val="40058472"/>
                    </a:ext>
                  </a:extLst>
                </a:gridCol>
              </a:tblGrid>
              <a:tr h="12421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algn="l" defTabSz="914400" rtl="0" eaLnBrk="1" latinLnBrk="0" hangingPunct="1"/>
                      <a:r>
                        <a:rPr lang="en-IN" sz="1600" b="0" kern="1200" dirty="0">
                          <a:solidFill>
                            <a:schemeClr val="dk1"/>
                          </a:solidFill>
                          <a:latin typeface="Times New Roman" panose="02020603050405020304" pitchFamily="18" charset="0"/>
                          <a:ea typeface="Cambria"/>
                          <a:cs typeface="Times New Roman" panose="02020603050405020304" pitchFamily="18" charset="0"/>
                        </a:rPr>
                        <a:t>M.SUCHITA-2420090122</a:t>
                      </a:r>
                    </a:p>
                    <a:p>
                      <a:pPr marL="0" algn="l" defTabSz="914400" rtl="0" eaLnBrk="1" latinLnBrk="0" hangingPunct="1"/>
                      <a:r>
                        <a:rPr lang="en-IN" sz="1600" b="0" kern="1200" dirty="0">
                          <a:solidFill>
                            <a:schemeClr val="dk1"/>
                          </a:solidFill>
                          <a:latin typeface="Times New Roman" panose="02020603050405020304" pitchFamily="18" charset="0"/>
                          <a:ea typeface="Cambria"/>
                          <a:cs typeface="Times New Roman" panose="02020603050405020304" pitchFamily="18" charset="0"/>
                        </a:rPr>
                        <a:t>GNANESHWAR -2420030659</a:t>
                      </a:r>
                    </a:p>
                    <a:p>
                      <a:pPr marL="0" algn="l" defTabSz="914400" rtl="0" eaLnBrk="1" latinLnBrk="0" hangingPunct="1"/>
                      <a:r>
                        <a:rPr lang="en-IN" sz="1600" b="0" kern="1200" dirty="0">
                          <a:solidFill>
                            <a:schemeClr val="dk1"/>
                          </a:solidFill>
                          <a:latin typeface="Times New Roman" panose="02020603050405020304" pitchFamily="18" charset="0"/>
                          <a:ea typeface="Cambria"/>
                          <a:cs typeface="Times New Roman" panose="02020603050405020304" pitchFamily="18" charset="0"/>
                        </a:rPr>
                        <a:t>CH IKSHWAK-2420030036</a:t>
                      </a:r>
                      <a:endParaRPr lang="en-IN" sz="1400" b="0" kern="1200" dirty="0">
                        <a:solidFill>
                          <a:schemeClr val="dk1"/>
                        </a:solidFill>
                        <a:latin typeface="Times New Roman" panose="02020603050405020304" pitchFamily="18" charset="0"/>
                        <a:ea typeface="Cambria"/>
                        <a:cs typeface="Times New Roman" panose="02020603050405020304" pitchFamily="18" charset="0"/>
                      </a:endParaRPr>
                    </a:p>
                    <a:p>
                      <a:pPr marL="0" algn="l" defTabSz="914400" rtl="0" eaLnBrk="1" latinLnBrk="0" hangingPunct="1"/>
                      <a:endParaRPr lang="en-IN" sz="1400" b="1" kern="1200" dirty="0">
                        <a:solidFill>
                          <a:schemeClr val="dk1"/>
                        </a:solidFill>
                        <a:latin typeface="Times New Roman" panose="02020603050405020304" pitchFamily="18" charset="0"/>
                        <a:ea typeface="Cambri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1478251124"/>
              </p:ext>
            </p:extLst>
          </p:nvPr>
        </p:nvGraphicFramePr>
        <p:xfrm>
          <a:off x="-795813" y="4774125"/>
          <a:ext cx="5902325" cy="13665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Ms. K. Bhavya Varma</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Assistant Professor</a:t>
                      </a:r>
                    </a:p>
                    <a:p>
                      <a:pPr marL="0" indent="0" algn="l">
                        <a:lnSpc>
                          <a:spcPct val="100000"/>
                        </a:lnSpc>
                        <a:spcBef>
                          <a:spcPts val="200"/>
                        </a:spcBef>
                        <a:buSzPts val="810"/>
                        <a:buNone/>
                      </a:pPr>
                      <a:r>
                        <a:rPr lang="en-US" sz="1400" b="0" dirty="0">
                          <a:solidFill>
                            <a:schemeClr val="dk1"/>
                          </a:solidFill>
                          <a:latin typeface="Times New Roman" panose="02020603050405020304" pitchFamily="18" charset="0"/>
                          <a:ea typeface="Cambria"/>
                          <a:cs typeface="Times New Roman" panose="02020603050405020304" pitchFamily="18" charset="0"/>
                          <a:sym typeface="Cambria"/>
                        </a:rPr>
                        <a:t>Department of CSE,</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fld id="{E8A51D8D-77C0-43B9-9B5F-E46EDA00679A}" type="datetime1">
              <a:rPr lang="en-US" b="1" smtClean="0"/>
              <a:t>10/29/2026</a:t>
            </a:fld>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CNAD Project Review-1</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93212" y="739616"/>
            <a:ext cx="10915650" cy="98564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505065" y="975485"/>
            <a:ext cx="10715625" cy="400110"/>
          </a:xfrm>
          <a:prstGeom prst="rect">
            <a:avLst/>
          </a:prstGeom>
          <a:noFill/>
        </p:spPr>
        <p:txBody>
          <a:bodyPr wrap="square">
            <a:spAutoFit/>
          </a:bodyPr>
          <a:lstStyle/>
          <a:p>
            <a:pPr lvl="0" algn="ctr">
              <a:defRPr/>
            </a:pPr>
            <a:r>
              <a:rPr lang="en-IN" sz="2000" b="1" dirty="0" err="1">
                <a:solidFill>
                  <a:schemeClr val="bg1"/>
                </a:solidFill>
              </a:rPr>
              <a:t>CloudAid</a:t>
            </a:r>
            <a:r>
              <a:rPr lang="en-IN" sz="2000" b="1" dirty="0">
                <a:solidFill>
                  <a:schemeClr val="bg1"/>
                </a:solidFill>
              </a:rPr>
              <a:t> – A Cloud-Native Disaster Response and Assistance Management System</a:t>
            </a:r>
            <a:endParaRPr kumimoji="0" lang="en-US" sz="4000" b="0" i="0" u="none" strike="noStrike" kern="1200" cap="none" spc="0" normalizeH="0" baseline="0" noProof="0" dirty="0">
              <a:ln>
                <a:noFill/>
              </a:ln>
              <a:solidFill>
                <a:schemeClr val="bg1"/>
              </a:solidFill>
              <a:effectLst/>
              <a:uLnTx/>
              <a:uFillTx/>
              <a:latin typeface="Calibri" panose="020F0502020204030204"/>
              <a:ea typeface="+mn-ea"/>
              <a:cs typeface="Poppins" pitchFamily="2" charset="77"/>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638175" y="2199745"/>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CNAD Project Review-1</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6FAE64B-DFA9-4528-D74E-DAEA88C008D5}"/>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C4C1F5F2-ECD8-4C6D-ADBC-EC676B29AED6}"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10/29/2026</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41222DE7-17C6-1B7E-71C0-2347B0AA2C6B}"/>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CNAD Project Review-1</a:t>
            </a: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4472C4"/>
                </a:solidFill>
                <a:effectLst/>
                <a:uLnTx/>
                <a:uFillTx/>
                <a:latin typeface="Times New Roman" panose="02020603050405020304" pitchFamily="18" charset="0"/>
                <a:ea typeface="Cambria"/>
                <a:cs typeface="Times New Roman" panose="02020603050405020304" pitchFamily="18" charset="0"/>
              </a:rPr>
              <a:t>Outline of Project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01361" y="1377996"/>
            <a:ext cx="6755728" cy="4143401"/>
            <a:chOff x="1929643" y="1656655"/>
            <a:chExt cx="6755728" cy="4143401"/>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Challenges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Research Objectives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References</a:t>
              </a:r>
              <a:b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Literature Survey</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Date Placeholder 1">
            <a:extLst>
              <a:ext uri="{FF2B5EF4-FFF2-40B4-BE49-F238E27FC236}">
                <a16:creationId xmlns:a16="http://schemas.microsoft.com/office/drawing/2014/main" id="{D122E8B8-54AE-F861-D576-B62C19A557BC}"/>
              </a:ext>
            </a:extLst>
          </p:cNvPr>
          <p:cNvSpPr>
            <a:spLocks noGrp="1"/>
          </p:cNvSpPr>
          <p:nvPr>
            <p:ph type="dt" sz="half" idx="10"/>
          </p:nvPr>
        </p:nvSpPr>
        <p:spPr/>
        <p:txBody>
          <a:bodyPr/>
          <a:lstStyle/>
          <a:p>
            <a:fld id="{EEF0E259-4615-46D4-A3BD-7CF5E55937D6}" type="datetime1">
              <a:rPr lang="en-US" smtClean="0"/>
              <a:t>10/29/2026</a:t>
            </a:fld>
            <a:endParaRPr lang="en-US"/>
          </a:p>
        </p:txBody>
      </p:sp>
      <p:sp>
        <p:nvSpPr>
          <p:cNvPr id="4" name="Footer Placeholder 3">
            <a:extLst>
              <a:ext uri="{FF2B5EF4-FFF2-40B4-BE49-F238E27FC236}">
                <a16:creationId xmlns:a16="http://schemas.microsoft.com/office/drawing/2014/main" id="{903DF040-570B-E40C-28DD-48ACF4776D20}"/>
              </a:ext>
            </a:extLst>
          </p:cNvPr>
          <p:cNvSpPr>
            <a:spLocks noGrp="1"/>
          </p:cNvSpPr>
          <p:nvPr>
            <p:ph type="ftr" sz="quarter" idx="11"/>
          </p:nvPr>
        </p:nvSpPr>
        <p:spPr/>
        <p:txBody>
          <a:bodyPr/>
          <a:lstStyle/>
          <a:p>
            <a:r>
              <a:rPr lang="en-US"/>
              <a:t>CNAD Project Review-1</a:t>
            </a:r>
          </a:p>
        </p:txBody>
      </p:sp>
      <p:sp>
        <p:nvSpPr>
          <p:cNvPr id="6" name="Slide Number Placeholder 5">
            <a:extLst>
              <a:ext uri="{FF2B5EF4-FFF2-40B4-BE49-F238E27FC236}">
                <a16:creationId xmlns:a16="http://schemas.microsoft.com/office/drawing/2014/main" id="{247450DC-5C76-3221-3705-A7713237DE4A}"/>
              </a:ext>
            </a:extLst>
          </p:cNvPr>
          <p:cNvSpPr>
            <a:spLocks noGrp="1"/>
          </p:cNvSpPr>
          <p:nvPr>
            <p:ph type="sldNum" sz="quarter" idx="12"/>
          </p:nvPr>
        </p:nvSpPr>
        <p:spPr/>
        <p:txBody>
          <a:bodyPr/>
          <a:lstStyle/>
          <a:p>
            <a:fld id="{E639234F-78F1-4984-9C4D-D4C7AB587871}" type="slidenum">
              <a:rPr lang="en-US" smtClean="0"/>
              <a:t>3</a:t>
            </a:fld>
            <a:endParaRPr lang="en-US"/>
          </a:p>
        </p:txBody>
      </p:sp>
      <p:sp>
        <p:nvSpPr>
          <p:cNvPr id="8" name="Rectangle: Rounded Corners 7">
            <a:extLst>
              <a:ext uri="{FF2B5EF4-FFF2-40B4-BE49-F238E27FC236}">
                <a16:creationId xmlns:a16="http://schemas.microsoft.com/office/drawing/2014/main" id="{3CB58DBC-97DD-CAE2-6032-D8BF2561F46C}"/>
              </a:ext>
            </a:extLst>
          </p:cNvPr>
          <p:cNvSpPr/>
          <p:nvPr/>
        </p:nvSpPr>
        <p:spPr>
          <a:xfrm>
            <a:off x="3834920" y="136525"/>
            <a:ext cx="4105120" cy="708443"/>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Introduction</a:t>
            </a:r>
          </a:p>
        </p:txBody>
      </p:sp>
      <p:sp>
        <p:nvSpPr>
          <p:cNvPr id="5" name="Rectangle 1">
            <a:extLst>
              <a:ext uri="{FF2B5EF4-FFF2-40B4-BE49-F238E27FC236}">
                <a16:creationId xmlns:a16="http://schemas.microsoft.com/office/drawing/2014/main" id="{96F9AA32-5248-FE0D-AD03-E4117B34B4B9}"/>
              </a:ext>
            </a:extLst>
          </p:cNvPr>
          <p:cNvSpPr>
            <a:spLocks noChangeArrowheads="1"/>
          </p:cNvSpPr>
          <p:nvPr/>
        </p:nvSpPr>
        <p:spPr bwMode="auto">
          <a:xfrm>
            <a:off x="838200" y="1830548"/>
            <a:ext cx="9926053"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Disasters such as floods, cyclones, earthquakes, and fires require quick communication and effective coordination among citizens, volunteers, administrators, and emergency responders.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Traditional approaches to disaster management may involve scattered information and manual coordination, making it difficult to manage emergency requests and allocate resources efficiently.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err="1">
                <a:ln>
                  <a:noFill/>
                </a:ln>
                <a:solidFill>
                  <a:schemeClr val="tx1"/>
                </a:solidFill>
                <a:effectLst/>
                <a:latin typeface="Arial" panose="020B0604020202020204" pitchFamily="34" charset="0"/>
              </a:rPr>
              <a:t>CloudAid</a:t>
            </a:r>
            <a:r>
              <a:rPr kumimoji="0" lang="en-US" altLang="en-US" sz="1800" b="1" i="0" u="none" strike="noStrike" cap="none" normalizeH="0" baseline="0" dirty="0">
                <a:ln>
                  <a:noFill/>
                </a:ln>
                <a:solidFill>
                  <a:schemeClr val="tx1"/>
                </a:solidFill>
                <a:effectLst/>
                <a:latin typeface="Arial" panose="020B0604020202020204" pitchFamily="34" charset="0"/>
              </a:rPr>
              <a:t> is a cloud-native disaster response and assistance management system that provides a centralized platform for emergency reporting, resource management, volunteer coordination, shelter management, and notifications.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The system uses a microservices architecture and container technologies to support modular development, flexible deployment, and scalability.</a:t>
            </a:r>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C03DE-75E3-D2CE-352E-AD0CE9969A9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35520F1-8A81-F525-F681-EC7A6F923215}"/>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Date Placeholder 1">
            <a:extLst>
              <a:ext uri="{FF2B5EF4-FFF2-40B4-BE49-F238E27FC236}">
                <a16:creationId xmlns:a16="http://schemas.microsoft.com/office/drawing/2014/main" id="{03C1C028-5530-337F-F56D-61DBD7C28B1D}"/>
              </a:ext>
            </a:extLst>
          </p:cNvPr>
          <p:cNvSpPr>
            <a:spLocks noGrp="1"/>
          </p:cNvSpPr>
          <p:nvPr>
            <p:ph type="dt" sz="half" idx="10"/>
          </p:nvPr>
        </p:nvSpPr>
        <p:spPr/>
        <p:txBody>
          <a:bodyPr/>
          <a:lstStyle/>
          <a:p>
            <a:fld id="{EEF0E259-4615-46D4-A3BD-7CF5E55937D6}" type="datetime1">
              <a:rPr lang="en-US" smtClean="0"/>
              <a:t>10/29/2026</a:t>
            </a:fld>
            <a:endParaRPr lang="en-US"/>
          </a:p>
        </p:txBody>
      </p:sp>
      <p:sp>
        <p:nvSpPr>
          <p:cNvPr id="4" name="Footer Placeholder 3">
            <a:extLst>
              <a:ext uri="{FF2B5EF4-FFF2-40B4-BE49-F238E27FC236}">
                <a16:creationId xmlns:a16="http://schemas.microsoft.com/office/drawing/2014/main" id="{840485B7-3581-0E48-0BC6-5B0893758A56}"/>
              </a:ext>
            </a:extLst>
          </p:cNvPr>
          <p:cNvSpPr>
            <a:spLocks noGrp="1"/>
          </p:cNvSpPr>
          <p:nvPr>
            <p:ph type="ftr" sz="quarter" idx="11"/>
          </p:nvPr>
        </p:nvSpPr>
        <p:spPr/>
        <p:txBody>
          <a:bodyPr/>
          <a:lstStyle/>
          <a:p>
            <a:r>
              <a:rPr lang="en-US"/>
              <a:t>CNAD Project Review-1</a:t>
            </a:r>
          </a:p>
        </p:txBody>
      </p:sp>
      <p:sp>
        <p:nvSpPr>
          <p:cNvPr id="6" name="Slide Number Placeholder 5">
            <a:extLst>
              <a:ext uri="{FF2B5EF4-FFF2-40B4-BE49-F238E27FC236}">
                <a16:creationId xmlns:a16="http://schemas.microsoft.com/office/drawing/2014/main" id="{1F369B0F-35E9-2F6E-5B05-7D8506602D57}"/>
              </a:ext>
            </a:extLst>
          </p:cNvPr>
          <p:cNvSpPr>
            <a:spLocks noGrp="1"/>
          </p:cNvSpPr>
          <p:nvPr>
            <p:ph type="sldNum" sz="quarter" idx="12"/>
          </p:nvPr>
        </p:nvSpPr>
        <p:spPr/>
        <p:txBody>
          <a:bodyPr/>
          <a:lstStyle/>
          <a:p>
            <a:fld id="{E639234F-78F1-4984-9C4D-D4C7AB587871}" type="slidenum">
              <a:rPr lang="en-US" smtClean="0"/>
              <a:t>4</a:t>
            </a:fld>
            <a:endParaRPr lang="en-US"/>
          </a:p>
        </p:txBody>
      </p:sp>
      <p:sp>
        <p:nvSpPr>
          <p:cNvPr id="8" name="Rectangle: Rounded Corners 7">
            <a:extLst>
              <a:ext uri="{FF2B5EF4-FFF2-40B4-BE49-F238E27FC236}">
                <a16:creationId xmlns:a16="http://schemas.microsoft.com/office/drawing/2014/main" id="{9E1861DA-545B-6A9B-62E6-8E15B0376C77}"/>
              </a:ext>
            </a:extLst>
          </p:cNvPr>
          <p:cNvSpPr/>
          <p:nvPr/>
        </p:nvSpPr>
        <p:spPr>
          <a:xfrm>
            <a:off x="3834920" y="136525"/>
            <a:ext cx="4105120" cy="708443"/>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Problem Statement</a:t>
            </a:r>
          </a:p>
        </p:txBody>
      </p:sp>
      <p:sp>
        <p:nvSpPr>
          <p:cNvPr id="11" name="Rectangle 3">
            <a:extLst>
              <a:ext uri="{FF2B5EF4-FFF2-40B4-BE49-F238E27FC236}">
                <a16:creationId xmlns:a16="http://schemas.microsoft.com/office/drawing/2014/main" id="{CFB1A78B-EF41-F332-AE08-C0B024A6FB95}"/>
              </a:ext>
            </a:extLst>
          </p:cNvPr>
          <p:cNvSpPr>
            <a:spLocks noChangeArrowheads="1"/>
          </p:cNvSpPr>
          <p:nvPr/>
        </p:nvSpPr>
        <p:spPr bwMode="auto">
          <a:xfrm>
            <a:off x="665323" y="1743226"/>
            <a:ext cx="10001985"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During disasters, emergency information and assistance requirements can arise from multiple locations simultaneously. Managing these requests without a centralized platform can make coordination between citizens, volunteers, administrators, and responders difficult.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Disaster response also requires efficient tracking of available resources, shelter capacity, volunteer availability, and emergency updates.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err="1">
                <a:ln>
                  <a:noFill/>
                </a:ln>
                <a:solidFill>
                  <a:schemeClr val="tx1"/>
                </a:solidFill>
                <a:effectLst/>
                <a:latin typeface="Arial" panose="020B0604020202020204" pitchFamily="34" charset="0"/>
              </a:rPr>
              <a:t>CloudAid</a:t>
            </a:r>
            <a:r>
              <a:rPr kumimoji="0" lang="en-US" altLang="en-US" sz="1800" b="1" i="0" u="none" strike="noStrike" cap="none" normalizeH="0" baseline="0" dirty="0">
                <a:ln>
                  <a:noFill/>
                </a:ln>
                <a:solidFill>
                  <a:schemeClr val="tx1"/>
                </a:solidFill>
                <a:effectLst/>
                <a:latin typeface="Arial" panose="020B0604020202020204" pitchFamily="34" charset="0"/>
              </a:rPr>
              <a:t> addresses these challenges by proposing a centralized, cloud-native platform that organizes disaster-related information and assistance activities through independent services.</a:t>
            </a:r>
          </a:p>
        </p:txBody>
      </p:sp>
    </p:spTree>
    <p:extLst>
      <p:ext uri="{BB962C8B-B14F-4D97-AF65-F5344CB8AC3E}">
        <p14:creationId xmlns:p14="http://schemas.microsoft.com/office/powerpoint/2010/main" val="32030438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3"/>
          <a:stretch>
            <a:fillRect/>
          </a:stretch>
        </p:blipFill>
        <p:spPr>
          <a:xfrm>
            <a:off x="10249380" y="0"/>
            <a:ext cx="1942620" cy="622550"/>
          </a:xfrm>
          <a:prstGeom prst="rect">
            <a:avLst/>
          </a:prstGeom>
        </p:spPr>
      </p:pic>
      <p:sp>
        <p:nvSpPr>
          <p:cNvPr id="2" name="Date Placeholder 1">
            <a:extLst>
              <a:ext uri="{FF2B5EF4-FFF2-40B4-BE49-F238E27FC236}">
                <a16:creationId xmlns:a16="http://schemas.microsoft.com/office/drawing/2014/main" id="{EE1EEFAC-0ECA-A18F-A4B4-033D3711121C}"/>
              </a:ext>
            </a:extLst>
          </p:cNvPr>
          <p:cNvSpPr>
            <a:spLocks noGrp="1"/>
          </p:cNvSpPr>
          <p:nvPr>
            <p:ph type="dt" sz="half" idx="10"/>
          </p:nvPr>
        </p:nvSpPr>
        <p:spPr/>
        <p:txBody>
          <a:bodyPr/>
          <a:lstStyle/>
          <a:p>
            <a:fld id="{2DD399FE-9025-4738-A866-75F92FF5600E}" type="datetime1">
              <a:rPr lang="en-US" smtClean="0"/>
              <a:t>10/29/2026</a:t>
            </a:fld>
            <a:endParaRPr lang="en-US" dirty="0"/>
          </a:p>
        </p:txBody>
      </p:sp>
      <p:sp>
        <p:nvSpPr>
          <p:cNvPr id="4" name="Footer Placeholder 3">
            <a:extLst>
              <a:ext uri="{FF2B5EF4-FFF2-40B4-BE49-F238E27FC236}">
                <a16:creationId xmlns:a16="http://schemas.microsoft.com/office/drawing/2014/main" id="{444FD4BC-7EB9-607E-38E4-8C64E6E11A77}"/>
              </a:ext>
            </a:extLst>
          </p:cNvPr>
          <p:cNvSpPr>
            <a:spLocks noGrp="1"/>
          </p:cNvSpPr>
          <p:nvPr>
            <p:ph type="ftr" sz="quarter" idx="11"/>
          </p:nvPr>
        </p:nvSpPr>
        <p:spPr/>
        <p:txBody>
          <a:bodyPr/>
          <a:lstStyle/>
          <a:p>
            <a:r>
              <a:rPr lang="en-US"/>
              <a:t>CNAD Project Review-1</a:t>
            </a:r>
          </a:p>
        </p:txBody>
      </p:sp>
      <p:sp>
        <p:nvSpPr>
          <p:cNvPr id="6" name="Slide Number Placeholder 5">
            <a:extLst>
              <a:ext uri="{FF2B5EF4-FFF2-40B4-BE49-F238E27FC236}">
                <a16:creationId xmlns:a16="http://schemas.microsoft.com/office/drawing/2014/main" id="{124C535C-1312-10F3-FBDA-B7001433D544}"/>
              </a:ext>
            </a:extLst>
          </p:cNvPr>
          <p:cNvSpPr>
            <a:spLocks noGrp="1"/>
          </p:cNvSpPr>
          <p:nvPr>
            <p:ph type="sldNum" sz="quarter" idx="12"/>
          </p:nvPr>
        </p:nvSpPr>
        <p:spPr/>
        <p:txBody>
          <a:bodyPr/>
          <a:lstStyle/>
          <a:p>
            <a:fld id="{E639234F-78F1-4984-9C4D-D4C7AB587871}" type="slidenum">
              <a:rPr lang="en-US" smtClean="0"/>
              <a:t>5</a:t>
            </a:fld>
            <a:endParaRPr lang="en-US"/>
          </a:p>
        </p:txBody>
      </p:sp>
      <p:sp>
        <p:nvSpPr>
          <p:cNvPr id="9" name="Rectangle: Rounded Corners 8">
            <a:extLst>
              <a:ext uri="{FF2B5EF4-FFF2-40B4-BE49-F238E27FC236}">
                <a16:creationId xmlns:a16="http://schemas.microsoft.com/office/drawing/2014/main" id="{BADE4BBA-6735-AAC4-BA57-E76FE3B3CF7A}"/>
              </a:ext>
            </a:extLst>
          </p:cNvPr>
          <p:cNvSpPr/>
          <p:nvPr/>
        </p:nvSpPr>
        <p:spPr>
          <a:xfrm>
            <a:off x="3845080" y="122680"/>
            <a:ext cx="4105120" cy="708443"/>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Objectives</a:t>
            </a:r>
          </a:p>
        </p:txBody>
      </p:sp>
      <p:sp>
        <p:nvSpPr>
          <p:cNvPr id="7" name="Rectangle 1">
            <a:extLst>
              <a:ext uri="{FF2B5EF4-FFF2-40B4-BE49-F238E27FC236}">
                <a16:creationId xmlns:a16="http://schemas.microsoft.com/office/drawing/2014/main" id="{0E4767AB-2BD4-7671-84FC-243BD7875686}"/>
              </a:ext>
            </a:extLst>
          </p:cNvPr>
          <p:cNvSpPr>
            <a:spLocks noChangeArrowheads="1"/>
          </p:cNvSpPr>
          <p:nvPr/>
        </p:nvSpPr>
        <p:spPr bwMode="auto">
          <a:xfrm>
            <a:off x="642026" y="1564161"/>
            <a:ext cx="10297499" cy="289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The primary objectives of </a:t>
            </a:r>
            <a:r>
              <a:rPr kumimoji="0" lang="en-US" altLang="en-US" sz="2000" b="1" i="0" u="none" strike="noStrike" cap="none" normalizeH="0" baseline="0" dirty="0" err="1">
                <a:ln>
                  <a:noFill/>
                </a:ln>
                <a:solidFill>
                  <a:schemeClr val="tx1"/>
                </a:solidFill>
                <a:effectLst/>
                <a:latin typeface="Arial" panose="020B0604020202020204" pitchFamily="34" charset="0"/>
              </a:rPr>
              <a:t>CloudAid</a:t>
            </a:r>
            <a:r>
              <a:rPr kumimoji="0" lang="en-US" altLang="en-US" sz="2000" b="1" i="0" u="none" strike="noStrike" cap="none" normalizeH="0" baseline="0" dirty="0">
                <a:ln>
                  <a:noFill/>
                </a:ln>
                <a:solidFill>
                  <a:schemeClr val="tx1"/>
                </a:solidFill>
                <a:effectLst/>
                <a:latin typeface="Arial" panose="020B0604020202020204" pitchFamily="34" charset="0"/>
              </a:rPr>
              <a:t> are: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develop a centralized platform for disaster reporting and assistance management.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enable citizens to report emergencies and request assistance.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improve the management and distribution of emergency resources.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coordinate volunteers and responders according to emergency requirements.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manage shelter information and availability.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provide notifications and critical updates to relevant users.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adopt microservices for modular and independent service deployment.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use Docker and Kubernetes to support containerization, orchestration, scalability, and reliability.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177829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1422863274"/>
              </p:ext>
            </p:extLst>
          </p:nvPr>
        </p:nvGraphicFramePr>
        <p:xfrm>
          <a:off x="274647" y="689466"/>
          <a:ext cx="11406075" cy="5836920"/>
        </p:xfrm>
        <a:graphic>
          <a:graphicData uri="http://schemas.openxmlformats.org/drawingml/2006/table">
            <a:tbl>
              <a:tblPr firstRow="1" bandRow="1">
                <a:tableStyleId>{BC89EF96-8CEA-46FF-86C4-4CE0E7609802}</a:tableStyleId>
              </a:tblPr>
              <a:tblGrid>
                <a:gridCol w="1066872">
                  <a:extLst>
                    <a:ext uri="{9D8B030D-6E8A-4147-A177-3AD203B41FA5}">
                      <a16:colId xmlns:a16="http://schemas.microsoft.com/office/drawing/2014/main" val="20001"/>
                    </a:ext>
                  </a:extLst>
                </a:gridCol>
                <a:gridCol w="2229045">
                  <a:extLst>
                    <a:ext uri="{9D8B030D-6E8A-4147-A177-3AD203B41FA5}">
                      <a16:colId xmlns:a16="http://schemas.microsoft.com/office/drawing/2014/main" val="20002"/>
                    </a:ext>
                  </a:extLst>
                </a:gridCol>
                <a:gridCol w="2425784">
                  <a:extLst>
                    <a:ext uri="{9D8B030D-6E8A-4147-A177-3AD203B41FA5}">
                      <a16:colId xmlns:a16="http://schemas.microsoft.com/office/drawing/2014/main" val="20003"/>
                    </a:ext>
                  </a:extLst>
                </a:gridCol>
                <a:gridCol w="2876904">
                  <a:extLst>
                    <a:ext uri="{9D8B030D-6E8A-4147-A177-3AD203B41FA5}">
                      <a16:colId xmlns:a16="http://schemas.microsoft.com/office/drawing/2014/main" val="20004"/>
                    </a:ext>
                  </a:extLst>
                </a:gridCol>
                <a:gridCol w="2807470">
                  <a:extLst>
                    <a:ext uri="{9D8B030D-6E8A-4147-A177-3AD203B41FA5}">
                      <a16:colId xmlns:a16="http://schemas.microsoft.com/office/drawing/2014/main" val="1396003017"/>
                    </a:ext>
                  </a:extLst>
                </a:gridCol>
              </a:tblGrid>
              <a:tr h="342554">
                <a:tc>
                  <a:txBody>
                    <a:bodyPr/>
                    <a:lstStyle/>
                    <a:p>
                      <a:pPr algn="ctr">
                        <a:buNone/>
                      </a:pPr>
                      <a:r>
                        <a:rPr lang="en-US" dirty="0">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dirty="0">
                          <a:latin typeface="Times New Roman" pitchFamily="18" charset="0"/>
                          <a:cs typeface="Times New Roman" pitchFamily="18" charset="0"/>
                        </a:rPr>
                        <a:t>Methodology</a:t>
                      </a:r>
                    </a:p>
                  </a:txBody>
                  <a:tcPr>
                    <a:solidFill>
                      <a:srgbClr val="FFFF00"/>
                    </a:solidFill>
                  </a:tcPr>
                </a:tc>
                <a:tc>
                  <a:txBody>
                    <a:bodyPr/>
                    <a:lstStyle/>
                    <a:p>
                      <a:pPr algn="ctr">
                        <a:buNone/>
                      </a:pPr>
                      <a:r>
                        <a:rPr lang="en-US" dirty="0">
                          <a:latin typeface="Times New Roman" pitchFamily="18" charset="0"/>
                          <a:cs typeface="Times New Roman" pitchFamily="18" charset="0"/>
                        </a:rPr>
                        <a:t>Inferences</a:t>
                      </a:r>
                    </a:p>
                  </a:txBody>
                  <a:tcPr>
                    <a:solidFill>
                      <a:srgbClr val="FFFF00"/>
                    </a:solidFill>
                  </a:tcPr>
                </a:tc>
                <a:tc>
                  <a:txBody>
                    <a:bodyPr/>
                    <a:lstStyle/>
                    <a:p>
                      <a:pPr algn="ctr">
                        <a:buNone/>
                      </a:pPr>
                      <a:r>
                        <a:rPr lang="en-US" dirty="0">
                          <a:latin typeface="Times New Roman" pitchFamily="18" charset="0"/>
                          <a:cs typeface="Times New Roman" pitchFamily="18" charset="0"/>
                        </a:rPr>
                        <a:t>Limitation/Future work</a:t>
                      </a:r>
                    </a:p>
                  </a:txBody>
                  <a:tcPr>
                    <a:solidFill>
                      <a:srgbClr val="FFFF00"/>
                    </a:solidFill>
                  </a:tcPr>
                </a:tc>
                <a:extLst>
                  <a:ext uri="{0D108BD9-81ED-4DB2-BD59-A6C34878D82A}">
                    <a16:rowId xmlns:a16="http://schemas.microsoft.com/office/drawing/2014/main" val="10000"/>
                  </a:ext>
                </a:extLst>
              </a:tr>
              <a:tr h="1835458">
                <a:tc>
                  <a:txBody>
                    <a:bodyPr/>
                    <a:lstStyle/>
                    <a:p>
                      <a:pPr marL="0" algn="l" defTabSz="914400" rtl="0" eaLnBrk="1" latinLnBrk="0" hangingPunct="1"/>
                      <a:r>
                        <a:rPr lang="en-IN" sz="1100" dirty="0">
                          <a:solidFill>
                            <a:srgbClr val="FF0000"/>
                          </a:solidFill>
                        </a:rPr>
                        <a:t>Mansura Habiba &amp; Shamim Akhter [1]</a:t>
                      </a:r>
                    </a:p>
                    <a:p>
                      <a:pPr marL="0" algn="l" defTabSz="914400" rtl="0" eaLnBrk="1" latinLnBrk="0" hangingPunct="1"/>
                      <a:r>
                        <a:rPr lang="en-IN" sz="1100" b="0" i="0" u="none" kern="1200" dirty="0">
                          <a:solidFill>
                            <a:srgbClr val="FF0000"/>
                          </a:solidFill>
                          <a:effectLst/>
                          <a:latin typeface="Times New Roman" panose="02020603050405020304" pitchFamily="18" charset="0"/>
                          <a:ea typeface="+mn-ea"/>
                          <a:cs typeface="Times New Roman" panose="02020603050405020304" pitchFamily="18" charset="0"/>
                        </a:rPr>
                        <a:t>2025</a:t>
                      </a:r>
                    </a:p>
                  </a:txBody>
                  <a:tcPr/>
                </a:tc>
                <a:tc>
                  <a:txBody>
                    <a:bodyPr/>
                    <a:lstStyle/>
                    <a:p>
                      <a:r>
                        <a:rPr lang="en-IN" sz="1100" b="0" dirty="0">
                          <a:solidFill>
                            <a:srgbClr val="FF0000"/>
                          </a:solidFill>
                        </a:rPr>
                        <a:t>A Cloud Based Natural Disaster Management System, GPC 2013, LNCS 7861, Springer</a:t>
                      </a:r>
                      <a:endParaRPr lang="en-IN" sz="1100" b="0" i="0"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100" b="0" dirty="0">
                          <a:solidFill>
                            <a:srgbClr val="FF0000"/>
                          </a:solidFill>
                        </a:rPr>
                        <a:t>Proposed a cloud-based workflow management system using Cloud computing, Web Services, Amazon EC2, Workflow Engine, Workflow Scheduler, Workflow Monitor, Role Manager, Web Portal, and Notification. The system distributes tasks among different services to improve disaster-response efficiency.</a:t>
                      </a:r>
                      <a:endParaRPr lang="en-US" sz="11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100" b="0" dirty="0">
                          <a:solidFill>
                            <a:srgbClr val="FF0000"/>
                          </a:solidFill>
                        </a:rPr>
                        <a:t>Cloud computing provides scalability, flexibility, reliability, flexible information access, data backup, resource sharing, and faster decision-making during disasters. The system can handle large amounts of disaster-related data and dynamically provide computing resources when demand increases.</a:t>
                      </a:r>
                      <a:endParaRPr lang="en-US" sz="11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IN" sz="1100" b="0" dirty="0">
                          <a:solidFill>
                            <a:srgbClr val="FF0000"/>
                          </a:solidFill>
                        </a:rPr>
                        <a:t>The paper mainly focuses on a workflow-based cloud DMS. It does not discuss modern microservices, Docker, or Kubernetes-based orchestration, which can be explored in future systems for independent service deployment and scaling.</a:t>
                      </a:r>
                      <a:endParaRPr lang="en-US" sz="11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3714155954"/>
                  </a:ext>
                </a:extLst>
              </a:tr>
              <a:tr h="638392">
                <a:tc>
                  <a:txBody>
                    <a:bodyPr/>
                    <a:lstStyle/>
                    <a:p>
                      <a:pPr marL="0" algn="l" defTabSz="914400" rtl="0" eaLnBrk="1" latinLnBrk="0" hangingPunct="1"/>
                      <a:r>
                        <a:rPr lang="en-IN" sz="1100" b="0" dirty="0">
                          <a:solidFill>
                            <a:srgbClr val="FF0000"/>
                          </a:solidFill>
                        </a:rPr>
                        <a:t>Luís Pedro Pina Ferreira [2]</a:t>
                      </a:r>
                    </a:p>
                    <a:p>
                      <a:pPr marL="0" algn="l" defTabSz="914400" rtl="0" eaLnBrk="1" latinLnBrk="0" hangingPunct="1"/>
                      <a:r>
                        <a:rPr lang="en-IN" sz="1100" b="0" i="0" u="none" kern="1200" dirty="0">
                          <a:solidFill>
                            <a:srgbClr val="FF0000"/>
                          </a:solidFill>
                          <a:effectLst/>
                          <a:latin typeface="+mj-lt"/>
                          <a:ea typeface="+mn-ea"/>
                          <a:cs typeface="Arial" panose="020B0604020202020204" pitchFamily="34" charset="0"/>
                        </a:rPr>
                        <a:t>2023</a:t>
                      </a:r>
                    </a:p>
                  </a:txBody>
                  <a:tcPr/>
                </a:tc>
                <a:tc>
                  <a:txBody>
                    <a:bodyPr/>
                    <a:lstStyle/>
                    <a:p>
                      <a:r>
                        <a:rPr lang="en-IN" sz="1100" b="0" dirty="0">
                          <a:solidFill>
                            <a:srgbClr val="FF0000"/>
                          </a:solidFill>
                        </a:rPr>
                        <a:t>Smart Orchestration on Cloud-Native Environments (2024)</a:t>
                      </a:r>
                      <a:endParaRPr lang="en-IN" sz="1100" b="0" i="0" u="none" kern="1200" dirty="0">
                        <a:solidFill>
                          <a:srgbClr val="FF0000"/>
                        </a:solidFill>
                        <a:effectLst/>
                        <a:latin typeface="+mj-lt"/>
                        <a:ea typeface="+mn-ea"/>
                        <a:cs typeface="Arial" panose="020B0604020202020204" pitchFamily="34"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100" b="0" dirty="0">
                          <a:solidFill>
                            <a:srgbClr val="FF0000"/>
                          </a:solidFill>
                        </a:rPr>
                        <a:t>Cloud-native orchestration can simplify deployment and management, reduce human intervention, and improve the efficiency and performance of distributed applications. Kubernetes helps manage complex cloud-native environments.</a:t>
                      </a:r>
                      <a:endParaRPr lang="en-US" sz="1100" b="0" i="0" u="none" kern="1200" dirty="0">
                        <a:solidFill>
                          <a:srgbClr val="FF0000"/>
                        </a:solidFill>
                        <a:effectLst/>
                        <a:latin typeface="+mj-lt"/>
                        <a:ea typeface="+mn-ea"/>
                        <a:cs typeface="Arial" panose="020B0604020202020204" pitchFamily="34" charset="0"/>
                        <a:sym typeface="Arial"/>
                      </a:endParaRPr>
                    </a:p>
                  </a:txBody>
                  <a:tcPr/>
                </a:tc>
                <a:tc>
                  <a:txBody>
                    <a:bodyPr/>
                    <a:lstStyle/>
                    <a:p>
                      <a:pPr marL="171450" marR="0" indent="-1714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100" b="0" dirty="0">
                          <a:solidFill>
                            <a:srgbClr val="FF0000"/>
                          </a:solidFill>
                        </a:rPr>
                        <a:t>Cloud-native orchestration can simplify deployment and management, reduce human intervention, and improve the efficiency and performance of distributed applications. Kubernetes helps manage complex cloud-native environments.</a:t>
                      </a:r>
                      <a:endParaRPr lang="en-US" sz="1100" b="0" i="0" u="none" kern="1200" dirty="0">
                        <a:solidFill>
                          <a:srgbClr val="FF0000"/>
                        </a:solidFill>
                        <a:effectLst/>
                        <a:latin typeface="+mj-lt"/>
                        <a:ea typeface="+mn-ea"/>
                        <a:cs typeface="Arial" panose="020B0604020202020204" pitchFamily="34" charset="0"/>
                        <a:sym typeface="Arial"/>
                      </a:endParaRPr>
                    </a:p>
                  </a:txBody>
                  <a:tcPr/>
                </a:tc>
                <a:tc>
                  <a:txBody>
                    <a:bodyPr/>
                    <a:lstStyle/>
                    <a:p>
                      <a:pPr marL="285750" indent="-285750">
                        <a:buFont typeface="Arial" panose="020B0604020202020204" pitchFamily="34" charset="0"/>
                        <a:buChar char="•"/>
                      </a:pPr>
                      <a:r>
                        <a:rPr lang="en-IN" sz="1100" b="0" dirty="0">
                          <a:solidFill>
                            <a:srgbClr val="FF0000"/>
                          </a:solidFill>
                        </a:rPr>
                        <a:t>The work mainly focuses on multi-domain cloud-native orchestration and infrastructure management, rather than disaster-response applications. </a:t>
                      </a:r>
                      <a:r>
                        <a:rPr lang="en-IN" sz="1100" b="0" dirty="0" err="1">
                          <a:solidFill>
                            <a:srgbClr val="FF0000"/>
                          </a:solidFill>
                        </a:rPr>
                        <a:t>CloudAid</a:t>
                      </a:r>
                      <a:r>
                        <a:rPr lang="en-IN" sz="1100" b="0" dirty="0">
                          <a:solidFill>
                            <a:srgbClr val="FF0000"/>
                          </a:solidFill>
                        </a:rPr>
                        <a:t> applies these cloud-native concepts to disaster management and assistance coordination.</a:t>
                      </a:r>
                      <a:endParaRPr lang="en-IN" sz="1100" b="0" dirty="0">
                        <a:solidFill>
                          <a:srgbClr val="FF0000"/>
                        </a:solidFill>
                        <a:latin typeface="+mj-lt"/>
                        <a:cs typeface="Arial" panose="020B0604020202020204" pitchFamily="34" charset="0"/>
                      </a:endParaRPr>
                    </a:p>
                  </a:txBody>
                  <a:tcPr anchor="ctr"/>
                </a:tc>
                <a:extLst>
                  <a:ext uri="{0D108BD9-81ED-4DB2-BD59-A6C34878D82A}">
                    <a16:rowId xmlns:a16="http://schemas.microsoft.com/office/drawing/2014/main" val="2655426370"/>
                  </a:ext>
                </a:extLst>
              </a:tr>
              <a:tr h="940242">
                <a:tc>
                  <a:txBody>
                    <a:bodyPr/>
                    <a:lstStyle/>
                    <a:p>
                      <a:pPr marL="0" algn="l" defTabSz="914400" rtl="0" eaLnBrk="1" latinLnBrk="0" hangingPunct="1"/>
                      <a:r>
                        <a:rPr lang="en-IN" sz="1100" b="0" dirty="0" err="1">
                          <a:solidFill>
                            <a:srgbClr val="FF0000"/>
                          </a:solidFill>
                        </a:rPr>
                        <a:t>Dongxin</a:t>
                      </a:r>
                      <a:r>
                        <a:rPr lang="en-IN" sz="1100" b="0" dirty="0">
                          <a:solidFill>
                            <a:srgbClr val="FF0000"/>
                          </a:solidFill>
                        </a:rPr>
                        <a:t> Bai, </a:t>
                      </a:r>
                      <a:r>
                        <a:rPr lang="en-IN" sz="1100" b="0" dirty="0" err="1">
                          <a:solidFill>
                            <a:srgbClr val="FF0000"/>
                          </a:solidFill>
                        </a:rPr>
                        <a:t>Jingtian</a:t>
                      </a:r>
                      <a:r>
                        <a:rPr lang="en-IN" sz="1100" b="0" dirty="0">
                          <a:solidFill>
                            <a:srgbClr val="FF0000"/>
                          </a:solidFill>
                        </a:rPr>
                        <a:t> Tang, </a:t>
                      </a:r>
                      <a:r>
                        <a:rPr lang="en-IN" sz="1100" b="0" dirty="0" err="1">
                          <a:solidFill>
                            <a:srgbClr val="FF0000"/>
                          </a:solidFill>
                        </a:rPr>
                        <a:t>Guangyin</a:t>
                      </a:r>
                      <a:r>
                        <a:rPr lang="en-IN" sz="1100" b="0" dirty="0">
                          <a:solidFill>
                            <a:srgbClr val="FF0000"/>
                          </a:solidFill>
                        </a:rPr>
                        <a:t> Lu, </a:t>
                      </a:r>
                      <a:r>
                        <a:rPr lang="en-IN" sz="1100" b="0" dirty="0" err="1">
                          <a:solidFill>
                            <a:srgbClr val="FF0000"/>
                          </a:solidFill>
                        </a:rPr>
                        <a:t>Ziqiang</a:t>
                      </a:r>
                      <a:r>
                        <a:rPr lang="en-IN" sz="1100" b="0" dirty="0">
                          <a:solidFill>
                            <a:srgbClr val="FF0000"/>
                          </a:solidFill>
                        </a:rPr>
                        <a:t> Zhu, </a:t>
                      </a:r>
                      <a:r>
                        <a:rPr lang="en-IN" sz="1100" b="0" dirty="0" err="1">
                          <a:solidFill>
                            <a:srgbClr val="FF0000"/>
                          </a:solidFill>
                        </a:rPr>
                        <a:t>Taoying</a:t>
                      </a:r>
                      <a:r>
                        <a:rPr lang="en-IN" sz="1100" b="0" dirty="0">
                          <a:solidFill>
                            <a:srgbClr val="FF0000"/>
                          </a:solidFill>
                        </a:rPr>
                        <a:t> Liu &amp; Ji Fang [2]</a:t>
                      </a:r>
                    </a:p>
                    <a:p>
                      <a:pPr marL="0" algn="l" defTabSz="914400" rtl="0" eaLnBrk="1" latinLnBrk="0" hangingPunct="1"/>
                      <a:r>
                        <a:rPr lang="en-IN" sz="1100" b="0" i="0" u="none" kern="1200" dirty="0">
                          <a:solidFill>
                            <a:srgbClr val="FF0000"/>
                          </a:solidFill>
                          <a:effectLst/>
                          <a:latin typeface="Times New Roman" panose="02020603050405020304" pitchFamily="18" charset="0"/>
                          <a:ea typeface="+mn-ea"/>
                          <a:cs typeface="Times New Roman" panose="02020603050405020304" pitchFamily="18" charset="0"/>
                        </a:rPr>
                        <a:t>2018</a:t>
                      </a:r>
                    </a:p>
                  </a:txBody>
                  <a:tcPr/>
                </a:tc>
                <a:tc>
                  <a:txBody>
                    <a:bodyPr/>
                    <a:lstStyle/>
                    <a:p>
                      <a:r>
                        <a:rPr lang="en-IN" sz="1100" b="0" dirty="0">
                          <a:solidFill>
                            <a:srgbClr val="FF0000"/>
                          </a:solidFill>
                        </a:rPr>
                        <a:t>The Design and Application of Landslide Monitoring and Early Warning System Based on Microservice Architecture</a:t>
                      </a:r>
                      <a:endParaRPr lang="en-IN" sz="11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100" b="0" dirty="0">
                          <a:solidFill>
                            <a:srgbClr val="FF0000"/>
                          </a:solidFill>
                        </a:rPr>
                        <a:t>Developed a microservice-based monitoring and early-warning system. Functions such as data reception, data analysis, user management, project management, early warning and prediction were divided into independent microservices. Used distributed databases, RabbitMQ, Redis, Consul and Nginx load balancing.</a:t>
                      </a:r>
                      <a:endParaRPr lang="en-US" sz="1100" b="0" u="none" kern="1200" dirty="0">
                        <a:solidFill>
                          <a:srgbClr val="FF0000"/>
                        </a:solidFill>
                        <a:effectLst/>
                        <a:latin typeface="Times New Roman" panose="02020603050405020304" pitchFamily="18" charset="0"/>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100" b="0" dirty="0">
                          <a:solidFill>
                            <a:srgbClr val="FF0000"/>
                          </a:solidFill>
                        </a:rPr>
                        <a:t>Microservices decouple system components, distribute computing and service loads, improve scalability, fault tolerance and stability, and support real-time processing of large amounts of sensor data. The system successfully handled thousands of sensors and millions of data records.</a:t>
                      </a:r>
                      <a:endParaRPr lang="en-US" sz="11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IN" sz="1100" b="0" dirty="0">
                          <a:solidFill>
                            <a:srgbClr val="FF0000"/>
                          </a:solidFill>
                        </a:rPr>
                        <a:t>Future work focuses on combining monitoring big data with geological big data and improving early identification and emergency-response technology for potential landslide risks.</a:t>
                      </a:r>
                      <a:endParaRPr lang="en-US" sz="11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841575018"/>
                  </a:ext>
                </a:extLst>
              </a:tr>
            </a:tbl>
          </a:graphicData>
        </a:graphic>
      </p:graphicFrame>
      <p:sp>
        <p:nvSpPr>
          <p:cNvPr id="8" name="Date Placeholder 7">
            <a:extLst>
              <a:ext uri="{FF2B5EF4-FFF2-40B4-BE49-F238E27FC236}">
                <a16:creationId xmlns:a16="http://schemas.microsoft.com/office/drawing/2014/main" id="{A0FDE360-66C4-26CA-5DB9-8E99C2685BE0}"/>
              </a:ext>
            </a:extLst>
          </p:cNvPr>
          <p:cNvSpPr>
            <a:spLocks noGrp="1"/>
          </p:cNvSpPr>
          <p:nvPr>
            <p:ph type="dt" sz="half" idx="10"/>
          </p:nvPr>
        </p:nvSpPr>
        <p:spPr>
          <a:xfrm>
            <a:off x="838200" y="6481823"/>
            <a:ext cx="2743200" cy="365125"/>
          </a:xfrm>
        </p:spPr>
        <p:txBody>
          <a:bodyPr/>
          <a:lstStyle/>
          <a:p>
            <a:fld id="{6BBE2E2B-EEBE-417C-831B-9A36F38228DC}" type="datetime1">
              <a:rPr lang="en-US" smtClean="0"/>
              <a:t>10/29/2026</a:t>
            </a:fld>
            <a:endParaRPr lang="en-IN" dirty="0"/>
          </a:p>
        </p:txBody>
      </p:sp>
      <p:sp>
        <p:nvSpPr>
          <p:cNvPr id="9" name="Footer Placeholder 8">
            <a:extLst>
              <a:ext uri="{FF2B5EF4-FFF2-40B4-BE49-F238E27FC236}">
                <a16:creationId xmlns:a16="http://schemas.microsoft.com/office/drawing/2014/main" id="{0F095753-622E-2BA7-9495-60F9B6E57FDB}"/>
              </a:ext>
            </a:extLst>
          </p:cNvPr>
          <p:cNvSpPr>
            <a:spLocks noGrp="1"/>
          </p:cNvSpPr>
          <p:nvPr>
            <p:ph type="ftr" sz="quarter" idx="11"/>
          </p:nvPr>
        </p:nvSpPr>
        <p:spPr>
          <a:xfrm>
            <a:off x="4038600" y="6479253"/>
            <a:ext cx="4114800" cy="365125"/>
          </a:xfrm>
        </p:spPr>
        <p:txBody>
          <a:bodyPr/>
          <a:lstStyle/>
          <a:p>
            <a:r>
              <a:rPr lang="en-IN" dirty="0"/>
              <a:t>CNAD Project Review-1</a:t>
            </a:r>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a:xfrm>
            <a:off x="8610600" y="6479253"/>
            <a:ext cx="2743200" cy="365125"/>
          </a:xfrm>
        </p:spPr>
        <p:txBody>
          <a:bodyPr/>
          <a:lstStyle/>
          <a:p>
            <a:fld id="{5A3A418F-4DEE-4BB1-940B-1145D135750E}" type="slidenum">
              <a:rPr lang="en-IN" smtClean="0"/>
              <a:t>6</a:t>
            </a:fld>
            <a:endParaRPr lang="en-IN" dirty="0"/>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
        <p:nvSpPr>
          <p:cNvPr id="5" name="Rectangle: Rounded Corners 4">
            <a:extLst>
              <a:ext uri="{FF2B5EF4-FFF2-40B4-BE49-F238E27FC236}">
                <a16:creationId xmlns:a16="http://schemas.microsoft.com/office/drawing/2014/main" id="{2704399D-42EB-45BD-D43F-A5AE14D447C0}"/>
              </a:ext>
            </a:extLst>
          </p:cNvPr>
          <p:cNvSpPr/>
          <p:nvPr/>
        </p:nvSpPr>
        <p:spPr>
          <a:xfrm>
            <a:off x="3773960" y="28819"/>
            <a:ext cx="4105120" cy="593732"/>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ea typeface="Cambria"/>
                <a:cs typeface="Times New Roman" panose="02020603050405020304" pitchFamily="18" charset="0"/>
              </a:rPr>
              <a:t>Literature Survey</a:t>
            </a:r>
            <a:endParaRPr lang="en-IN" sz="28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92770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Date Placeholder 1">
            <a:extLst>
              <a:ext uri="{FF2B5EF4-FFF2-40B4-BE49-F238E27FC236}">
                <a16:creationId xmlns:a16="http://schemas.microsoft.com/office/drawing/2014/main" id="{68EF7CC6-A232-6F78-D877-F4139E33B62C}"/>
              </a:ext>
            </a:extLst>
          </p:cNvPr>
          <p:cNvSpPr>
            <a:spLocks noGrp="1"/>
          </p:cNvSpPr>
          <p:nvPr>
            <p:ph type="dt" sz="half" idx="10"/>
          </p:nvPr>
        </p:nvSpPr>
        <p:spPr/>
        <p:txBody>
          <a:bodyPr/>
          <a:lstStyle/>
          <a:p>
            <a:fld id="{C7382076-AD1E-4D44-9D37-ACCF737AE8A4}" type="datetime1">
              <a:rPr lang="en-US" smtClean="0"/>
              <a:t>10/29/2026</a:t>
            </a:fld>
            <a:endParaRPr lang="en-US"/>
          </a:p>
        </p:txBody>
      </p:sp>
      <p:sp>
        <p:nvSpPr>
          <p:cNvPr id="4" name="Footer Placeholder 3">
            <a:extLst>
              <a:ext uri="{FF2B5EF4-FFF2-40B4-BE49-F238E27FC236}">
                <a16:creationId xmlns:a16="http://schemas.microsoft.com/office/drawing/2014/main" id="{EB1B73B0-000A-32FB-5643-CD5676D4AF06}"/>
              </a:ext>
            </a:extLst>
          </p:cNvPr>
          <p:cNvSpPr>
            <a:spLocks noGrp="1"/>
          </p:cNvSpPr>
          <p:nvPr>
            <p:ph type="ftr" sz="quarter" idx="11"/>
          </p:nvPr>
        </p:nvSpPr>
        <p:spPr/>
        <p:txBody>
          <a:bodyPr/>
          <a:lstStyle/>
          <a:p>
            <a:r>
              <a:rPr lang="en-US"/>
              <a:t>CNAD Project Review-1</a:t>
            </a:r>
          </a:p>
        </p:txBody>
      </p:sp>
      <p:sp>
        <p:nvSpPr>
          <p:cNvPr id="6" name="Slide Number Placeholder 5">
            <a:extLst>
              <a:ext uri="{FF2B5EF4-FFF2-40B4-BE49-F238E27FC236}">
                <a16:creationId xmlns:a16="http://schemas.microsoft.com/office/drawing/2014/main" id="{7FA1E0BD-2CF1-90B0-91FF-80A63764D288}"/>
              </a:ext>
            </a:extLst>
          </p:cNvPr>
          <p:cNvSpPr>
            <a:spLocks noGrp="1"/>
          </p:cNvSpPr>
          <p:nvPr>
            <p:ph type="sldNum" sz="quarter" idx="12"/>
          </p:nvPr>
        </p:nvSpPr>
        <p:spPr/>
        <p:txBody>
          <a:bodyPr/>
          <a:lstStyle/>
          <a:p>
            <a:fld id="{E639234F-78F1-4984-9C4D-D4C7AB587871}" type="slidenum">
              <a:rPr lang="en-US" smtClean="0"/>
              <a:t>7</a:t>
            </a:fld>
            <a:endParaRPr lang="en-US"/>
          </a:p>
        </p:txBody>
      </p:sp>
      <p:sp>
        <p:nvSpPr>
          <p:cNvPr id="10" name="Rectangle: Rounded Corners 9">
            <a:extLst>
              <a:ext uri="{FF2B5EF4-FFF2-40B4-BE49-F238E27FC236}">
                <a16:creationId xmlns:a16="http://schemas.microsoft.com/office/drawing/2014/main" id="{CD00B50F-4223-2213-E4CD-57D228BCA0B6}"/>
              </a:ext>
            </a:extLst>
          </p:cNvPr>
          <p:cNvSpPr/>
          <p:nvPr/>
        </p:nvSpPr>
        <p:spPr>
          <a:xfrm>
            <a:off x="3352320" y="268328"/>
            <a:ext cx="5258280" cy="708443"/>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latin typeface="Times New Roman" panose="02020603050405020304" pitchFamily="18" charset="0"/>
                <a:cs typeface="Times New Roman" panose="02020603050405020304" pitchFamily="18" charset="0"/>
              </a:rPr>
              <a:t>Proposed System</a:t>
            </a:r>
            <a:endParaRPr lang="en-US" sz="28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7" name="Rectangle 1">
            <a:extLst>
              <a:ext uri="{FF2B5EF4-FFF2-40B4-BE49-F238E27FC236}">
                <a16:creationId xmlns:a16="http://schemas.microsoft.com/office/drawing/2014/main" id="{279912B7-D6F6-7ACB-F4A1-8DCF05672B94}"/>
              </a:ext>
            </a:extLst>
          </p:cNvPr>
          <p:cNvSpPr>
            <a:spLocks noChangeArrowheads="1"/>
          </p:cNvSpPr>
          <p:nvPr/>
        </p:nvSpPr>
        <p:spPr bwMode="auto">
          <a:xfrm>
            <a:off x="789562" y="1459641"/>
            <a:ext cx="10564238"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err="1">
                <a:ln>
                  <a:noFill/>
                </a:ln>
                <a:solidFill>
                  <a:schemeClr val="tx1"/>
                </a:solidFill>
                <a:effectLst/>
                <a:latin typeface="Arial" panose="020B0604020202020204" pitchFamily="34" charset="0"/>
              </a:rPr>
              <a:t>CloudAid</a:t>
            </a:r>
            <a:r>
              <a:rPr kumimoji="0" lang="en-US" altLang="en-US" sz="1800" b="1" i="0" u="none" strike="noStrike" cap="none" normalizeH="0" baseline="0" dirty="0">
                <a:ln>
                  <a:noFill/>
                </a:ln>
                <a:solidFill>
                  <a:schemeClr val="tx1"/>
                </a:solidFill>
                <a:effectLst/>
                <a:latin typeface="Arial" panose="020B0604020202020204" pitchFamily="34" charset="0"/>
              </a:rPr>
              <a:t> integrates the major activities involved in disaster response into a single platform.</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Citizens can submit emergency reports, while administrators can manage incoming requests and coordinate assistance. Dedicated modules handle resource availability, volunteer coordination, shelter information, and notifications.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The application follows a microservices architecture in which individual services communicate through REST APIs. React.js provides the frontend, Spring Boot supports backend development, and PostgreSQL stores application data.</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Docker packages application components into containers, while Kubernetes manages container deployment and orchestration.</a:t>
            </a:r>
          </a:p>
        </p:txBody>
      </p:sp>
    </p:spTree>
    <p:extLst>
      <p:ext uri="{BB962C8B-B14F-4D97-AF65-F5344CB8AC3E}">
        <p14:creationId xmlns:p14="http://schemas.microsoft.com/office/powerpoint/2010/main" val="2065876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50D1D-D472-0A8B-2199-E10FBA1545F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69C84DD-CCEC-68B7-9627-BB1B2FCDF093}"/>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Date Placeholder 1">
            <a:extLst>
              <a:ext uri="{FF2B5EF4-FFF2-40B4-BE49-F238E27FC236}">
                <a16:creationId xmlns:a16="http://schemas.microsoft.com/office/drawing/2014/main" id="{22B45F82-9EE8-031C-4E9B-F452F03BEEC2}"/>
              </a:ext>
            </a:extLst>
          </p:cNvPr>
          <p:cNvSpPr>
            <a:spLocks noGrp="1"/>
          </p:cNvSpPr>
          <p:nvPr>
            <p:ph type="dt" sz="half" idx="10"/>
          </p:nvPr>
        </p:nvSpPr>
        <p:spPr/>
        <p:txBody>
          <a:bodyPr/>
          <a:lstStyle/>
          <a:p>
            <a:fld id="{C7382076-AD1E-4D44-9D37-ACCF737AE8A4}" type="datetime1">
              <a:rPr lang="en-US" smtClean="0"/>
              <a:t>10/29/2026</a:t>
            </a:fld>
            <a:endParaRPr lang="en-US"/>
          </a:p>
        </p:txBody>
      </p:sp>
      <p:sp>
        <p:nvSpPr>
          <p:cNvPr id="4" name="Footer Placeholder 3">
            <a:extLst>
              <a:ext uri="{FF2B5EF4-FFF2-40B4-BE49-F238E27FC236}">
                <a16:creationId xmlns:a16="http://schemas.microsoft.com/office/drawing/2014/main" id="{41123843-F0D4-A0B7-BA2E-46F9D2134C20}"/>
              </a:ext>
            </a:extLst>
          </p:cNvPr>
          <p:cNvSpPr>
            <a:spLocks noGrp="1"/>
          </p:cNvSpPr>
          <p:nvPr>
            <p:ph type="ftr" sz="quarter" idx="11"/>
          </p:nvPr>
        </p:nvSpPr>
        <p:spPr/>
        <p:txBody>
          <a:bodyPr/>
          <a:lstStyle/>
          <a:p>
            <a:r>
              <a:rPr lang="en-US"/>
              <a:t>CNAD Project Review-1</a:t>
            </a:r>
          </a:p>
        </p:txBody>
      </p:sp>
      <p:sp>
        <p:nvSpPr>
          <p:cNvPr id="6" name="Slide Number Placeholder 5">
            <a:extLst>
              <a:ext uri="{FF2B5EF4-FFF2-40B4-BE49-F238E27FC236}">
                <a16:creationId xmlns:a16="http://schemas.microsoft.com/office/drawing/2014/main" id="{805A90E3-54C3-E47B-197A-B4746AC30085}"/>
              </a:ext>
            </a:extLst>
          </p:cNvPr>
          <p:cNvSpPr>
            <a:spLocks noGrp="1"/>
          </p:cNvSpPr>
          <p:nvPr>
            <p:ph type="sldNum" sz="quarter" idx="12"/>
          </p:nvPr>
        </p:nvSpPr>
        <p:spPr/>
        <p:txBody>
          <a:bodyPr/>
          <a:lstStyle/>
          <a:p>
            <a:fld id="{E639234F-78F1-4984-9C4D-D4C7AB587871}" type="slidenum">
              <a:rPr lang="en-US" smtClean="0"/>
              <a:t>8</a:t>
            </a:fld>
            <a:endParaRPr lang="en-US"/>
          </a:p>
        </p:txBody>
      </p:sp>
      <p:sp>
        <p:nvSpPr>
          <p:cNvPr id="10" name="Rectangle: Rounded Corners 9">
            <a:extLst>
              <a:ext uri="{FF2B5EF4-FFF2-40B4-BE49-F238E27FC236}">
                <a16:creationId xmlns:a16="http://schemas.microsoft.com/office/drawing/2014/main" id="{A10BEED1-8ADD-252F-F7BB-784572563BDC}"/>
              </a:ext>
            </a:extLst>
          </p:cNvPr>
          <p:cNvSpPr/>
          <p:nvPr/>
        </p:nvSpPr>
        <p:spPr>
          <a:xfrm>
            <a:off x="3352320" y="268328"/>
            <a:ext cx="5258280" cy="708443"/>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latin typeface="Times New Roman" panose="02020603050405020304" pitchFamily="18" charset="0"/>
                <a:cs typeface="Times New Roman" panose="02020603050405020304" pitchFamily="18" charset="0"/>
              </a:rPr>
              <a:t>Modules of </a:t>
            </a:r>
            <a:r>
              <a:rPr lang="en-IN" sz="2800" b="1" dirty="0" err="1">
                <a:latin typeface="Times New Roman" panose="02020603050405020304" pitchFamily="18" charset="0"/>
                <a:cs typeface="Times New Roman" panose="02020603050405020304" pitchFamily="18" charset="0"/>
              </a:rPr>
              <a:t>CloudAid</a:t>
            </a:r>
            <a:endParaRPr lang="en-US" sz="28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9111CE1F-4460-2836-FD86-90A960DFFE4A}"/>
              </a:ext>
            </a:extLst>
          </p:cNvPr>
          <p:cNvSpPr>
            <a:spLocks noChangeArrowheads="1"/>
          </p:cNvSpPr>
          <p:nvPr/>
        </p:nvSpPr>
        <p:spPr bwMode="auto">
          <a:xfrm>
            <a:off x="838200" y="1442736"/>
            <a:ext cx="10428051"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1. User Management:</a:t>
            </a:r>
            <a:r>
              <a:rPr kumimoji="0" lang="en-US" altLang="en-US" sz="2000" b="0" i="0" u="none" strike="noStrike" cap="none" normalizeH="0" baseline="0" dirty="0">
                <a:ln>
                  <a:noFill/>
                </a:ln>
                <a:solidFill>
                  <a:schemeClr val="tx1"/>
                </a:solidFill>
                <a:effectLst/>
                <a:latin typeface="Arial" panose="020B0604020202020204" pitchFamily="34" charset="0"/>
              </a:rPr>
              <a:t> Supports the organization of users and their roles within the platform.</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2. Emergency Reporting:</a:t>
            </a:r>
            <a:r>
              <a:rPr kumimoji="0" lang="en-US" altLang="en-US" sz="2000" b="0" i="0" u="none" strike="noStrike" cap="none" normalizeH="0" baseline="0" dirty="0">
                <a:ln>
                  <a:noFill/>
                </a:ln>
                <a:solidFill>
                  <a:schemeClr val="tx1"/>
                </a:solidFill>
                <a:effectLst/>
                <a:latin typeface="Arial" panose="020B0604020202020204" pitchFamily="34" charset="0"/>
              </a:rPr>
              <a:t> Allows citizens to submit information about disasters and request assistance.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3. Resource Management:</a:t>
            </a:r>
            <a:r>
              <a:rPr kumimoji="0" lang="en-US" altLang="en-US" sz="2000" b="0" i="0" u="none" strike="noStrike" cap="none" normalizeH="0" baseline="0" dirty="0">
                <a:ln>
                  <a:noFill/>
                </a:ln>
                <a:solidFill>
                  <a:schemeClr val="tx1"/>
                </a:solidFill>
                <a:effectLst/>
                <a:latin typeface="Arial" panose="020B0604020202020204" pitchFamily="34" charset="0"/>
              </a:rPr>
              <a:t> Organizes information about emergency supplies and resource availability.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4. Volunteer Coordination:</a:t>
            </a:r>
            <a:r>
              <a:rPr kumimoji="0" lang="en-US" altLang="en-US" sz="2000" b="0" i="0" u="none" strike="noStrike" cap="none" normalizeH="0" baseline="0" dirty="0">
                <a:ln>
                  <a:noFill/>
                </a:ln>
                <a:solidFill>
                  <a:schemeClr val="tx1"/>
                </a:solidFill>
                <a:effectLst/>
                <a:latin typeface="Arial" panose="020B0604020202020204" pitchFamily="34" charset="0"/>
              </a:rPr>
              <a:t> Helps coordinate volunteers according to assistance requirements.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5. Shelter Management:</a:t>
            </a:r>
            <a:r>
              <a:rPr kumimoji="0" lang="en-US" altLang="en-US" sz="2000" b="0" i="0" u="none" strike="noStrike" cap="none" normalizeH="0" baseline="0" dirty="0">
                <a:ln>
                  <a:noFill/>
                </a:ln>
                <a:solidFill>
                  <a:schemeClr val="tx1"/>
                </a:solidFill>
                <a:effectLst/>
                <a:latin typeface="Arial" panose="020B0604020202020204" pitchFamily="34" charset="0"/>
              </a:rPr>
              <a:t> Maintains information about shelters and their availability.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6. Notification System:</a:t>
            </a:r>
            <a:r>
              <a:rPr kumimoji="0" lang="en-US" altLang="en-US" sz="2000" b="0" i="0" u="none" strike="noStrike" cap="none" normalizeH="0" baseline="0" dirty="0">
                <a:ln>
                  <a:noFill/>
                </a:ln>
                <a:solidFill>
                  <a:schemeClr val="tx1"/>
                </a:solidFill>
                <a:effectLst/>
                <a:latin typeface="Arial" panose="020B0604020202020204" pitchFamily="34" charset="0"/>
              </a:rPr>
              <a:t> Provides a mechanism for communicating important emergency updates to relevant users.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Together, these modules aim to improve information sharing and coordination during disaster-response activities.</a:t>
            </a:r>
          </a:p>
        </p:txBody>
      </p:sp>
    </p:spTree>
    <p:extLst>
      <p:ext uri="{BB962C8B-B14F-4D97-AF65-F5344CB8AC3E}">
        <p14:creationId xmlns:p14="http://schemas.microsoft.com/office/powerpoint/2010/main" val="40221749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Date Placeholder 1">
            <a:extLst>
              <a:ext uri="{FF2B5EF4-FFF2-40B4-BE49-F238E27FC236}">
                <a16:creationId xmlns:a16="http://schemas.microsoft.com/office/drawing/2014/main" id="{108788A6-87D6-D1AD-CD09-882273D2CDE8}"/>
              </a:ext>
            </a:extLst>
          </p:cNvPr>
          <p:cNvSpPr>
            <a:spLocks noGrp="1"/>
          </p:cNvSpPr>
          <p:nvPr>
            <p:ph type="dt" sz="half" idx="10"/>
          </p:nvPr>
        </p:nvSpPr>
        <p:spPr/>
        <p:txBody>
          <a:bodyPr/>
          <a:lstStyle/>
          <a:p>
            <a:fld id="{A428917A-4773-4F0C-BADF-AB7FA9859A31}" type="datetime1">
              <a:rPr lang="en-US" smtClean="0"/>
              <a:t>10/29/2026</a:t>
            </a:fld>
            <a:endParaRPr lang="en-US"/>
          </a:p>
        </p:txBody>
      </p:sp>
      <p:sp>
        <p:nvSpPr>
          <p:cNvPr id="4" name="Footer Placeholder 3">
            <a:extLst>
              <a:ext uri="{FF2B5EF4-FFF2-40B4-BE49-F238E27FC236}">
                <a16:creationId xmlns:a16="http://schemas.microsoft.com/office/drawing/2014/main" id="{6964A259-1A89-35BF-04C0-AB6DECF4E007}"/>
              </a:ext>
            </a:extLst>
          </p:cNvPr>
          <p:cNvSpPr>
            <a:spLocks noGrp="1"/>
          </p:cNvSpPr>
          <p:nvPr>
            <p:ph type="ftr" sz="quarter" idx="11"/>
          </p:nvPr>
        </p:nvSpPr>
        <p:spPr/>
        <p:txBody>
          <a:bodyPr/>
          <a:lstStyle/>
          <a:p>
            <a:r>
              <a:rPr lang="en-US"/>
              <a:t>CNAD Project Review-1</a:t>
            </a:r>
          </a:p>
        </p:txBody>
      </p:sp>
      <p:sp>
        <p:nvSpPr>
          <p:cNvPr id="6" name="Slide Number Placeholder 5">
            <a:extLst>
              <a:ext uri="{FF2B5EF4-FFF2-40B4-BE49-F238E27FC236}">
                <a16:creationId xmlns:a16="http://schemas.microsoft.com/office/drawing/2014/main" id="{0295C214-DB26-4476-F790-7E558BB673EA}"/>
              </a:ext>
            </a:extLst>
          </p:cNvPr>
          <p:cNvSpPr>
            <a:spLocks noGrp="1"/>
          </p:cNvSpPr>
          <p:nvPr>
            <p:ph type="sldNum" sz="quarter" idx="12"/>
          </p:nvPr>
        </p:nvSpPr>
        <p:spPr/>
        <p:txBody>
          <a:bodyPr/>
          <a:lstStyle/>
          <a:p>
            <a:fld id="{E639234F-78F1-4984-9C4D-D4C7AB587871}" type="slidenum">
              <a:rPr lang="en-US" smtClean="0"/>
              <a:t>9</a:t>
            </a:fld>
            <a:endParaRPr lang="en-US"/>
          </a:p>
        </p:txBody>
      </p:sp>
      <p:sp>
        <p:nvSpPr>
          <p:cNvPr id="8" name="Rectangle: Rounded Corners 7">
            <a:extLst>
              <a:ext uri="{FF2B5EF4-FFF2-40B4-BE49-F238E27FC236}">
                <a16:creationId xmlns:a16="http://schemas.microsoft.com/office/drawing/2014/main" id="{26FE5EF9-EC7B-4BF5-92FE-E68EC6C8C5B2}"/>
              </a:ext>
            </a:extLst>
          </p:cNvPr>
          <p:cNvSpPr/>
          <p:nvPr/>
        </p:nvSpPr>
        <p:spPr>
          <a:xfrm>
            <a:off x="2682240" y="136525"/>
            <a:ext cx="6303999" cy="708443"/>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latin typeface="Times New Roman" panose="02020603050405020304" pitchFamily="18" charset="0"/>
                <a:cs typeface="Times New Roman" panose="02020603050405020304" pitchFamily="18" charset="0"/>
              </a:rPr>
              <a:t>Technology Stack</a:t>
            </a:r>
            <a:endParaRPr lang="en-US" sz="28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graphicFrame>
        <p:nvGraphicFramePr>
          <p:cNvPr id="7" name="Table 6">
            <a:extLst>
              <a:ext uri="{FF2B5EF4-FFF2-40B4-BE49-F238E27FC236}">
                <a16:creationId xmlns:a16="http://schemas.microsoft.com/office/drawing/2014/main" id="{74A703BC-B27A-CABA-4C71-D4FBA0DF74F2}"/>
              </a:ext>
            </a:extLst>
          </p:cNvPr>
          <p:cNvGraphicFramePr>
            <a:graphicFrameLocks noGrp="1"/>
          </p:cNvGraphicFramePr>
          <p:nvPr>
            <p:extLst>
              <p:ext uri="{D42A27DB-BD31-4B8C-83A1-F6EECF244321}">
                <p14:modId xmlns:p14="http://schemas.microsoft.com/office/powerpoint/2010/main" val="3080316032"/>
              </p:ext>
            </p:extLst>
          </p:nvPr>
        </p:nvGraphicFramePr>
        <p:xfrm>
          <a:off x="838201" y="1212748"/>
          <a:ext cx="10515600" cy="4823092"/>
        </p:xfrm>
        <a:graphic>
          <a:graphicData uri="http://schemas.openxmlformats.org/drawingml/2006/table">
            <a:tbl>
              <a:tblPr>
                <a:tableStyleId>{D7AC3CCA-C797-4891-BE02-D94E43425B78}</a:tableStyleId>
              </a:tblPr>
              <a:tblGrid>
                <a:gridCol w="3505200">
                  <a:extLst>
                    <a:ext uri="{9D8B030D-6E8A-4147-A177-3AD203B41FA5}">
                      <a16:colId xmlns:a16="http://schemas.microsoft.com/office/drawing/2014/main" val="89262920"/>
                    </a:ext>
                  </a:extLst>
                </a:gridCol>
                <a:gridCol w="3505200">
                  <a:extLst>
                    <a:ext uri="{9D8B030D-6E8A-4147-A177-3AD203B41FA5}">
                      <a16:colId xmlns:a16="http://schemas.microsoft.com/office/drawing/2014/main" val="3075387616"/>
                    </a:ext>
                  </a:extLst>
                </a:gridCol>
                <a:gridCol w="3505200">
                  <a:extLst>
                    <a:ext uri="{9D8B030D-6E8A-4147-A177-3AD203B41FA5}">
                      <a16:colId xmlns:a16="http://schemas.microsoft.com/office/drawing/2014/main" val="3859305922"/>
                    </a:ext>
                  </a:extLst>
                </a:gridCol>
              </a:tblGrid>
              <a:tr h="258256">
                <a:tc>
                  <a:txBody>
                    <a:bodyPr/>
                    <a:lstStyle/>
                    <a:p>
                      <a:pPr>
                        <a:buNone/>
                      </a:pPr>
                      <a:r>
                        <a:rPr lang="en-IN" sz="1600" b="1" dirty="0"/>
                        <a:t>Layer</a:t>
                      </a:r>
                    </a:p>
                  </a:txBody>
                  <a:tcPr marL="59607" marR="59607" marT="29804" marB="29804" anchor="ctr"/>
                </a:tc>
                <a:tc>
                  <a:txBody>
                    <a:bodyPr/>
                    <a:lstStyle/>
                    <a:p>
                      <a:pPr>
                        <a:buNone/>
                      </a:pPr>
                      <a:r>
                        <a:rPr lang="en-IN" sz="1600" b="1"/>
                        <a:t>Technology</a:t>
                      </a:r>
                    </a:p>
                  </a:txBody>
                  <a:tcPr marL="59607" marR="59607" marT="29804" marB="29804" anchor="ctr"/>
                </a:tc>
                <a:tc>
                  <a:txBody>
                    <a:bodyPr/>
                    <a:lstStyle/>
                    <a:p>
                      <a:pPr>
                        <a:buNone/>
                      </a:pPr>
                      <a:r>
                        <a:rPr lang="en-IN" sz="1600" b="1" dirty="0"/>
                        <a:t>Purpose</a:t>
                      </a:r>
                    </a:p>
                  </a:txBody>
                  <a:tcPr marL="59607" marR="59607" marT="29804" marB="29804" anchor="ctr"/>
                </a:tc>
                <a:extLst>
                  <a:ext uri="{0D108BD9-81ED-4DB2-BD59-A6C34878D82A}">
                    <a16:rowId xmlns:a16="http://schemas.microsoft.com/office/drawing/2014/main" val="25460255"/>
                  </a:ext>
                </a:extLst>
              </a:tr>
              <a:tr h="444746">
                <a:tc>
                  <a:txBody>
                    <a:bodyPr/>
                    <a:lstStyle/>
                    <a:p>
                      <a:pPr>
                        <a:buNone/>
                      </a:pPr>
                      <a:r>
                        <a:rPr lang="en-IN" sz="1400"/>
                        <a:t>Frontend</a:t>
                      </a:r>
                    </a:p>
                  </a:txBody>
                  <a:tcPr marL="59607" marR="59607" marT="29804" marB="29804" anchor="ctr"/>
                </a:tc>
                <a:tc>
                  <a:txBody>
                    <a:bodyPr/>
                    <a:lstStyle/>
                    <a:p>
                      <a:pPr>
                        <a:buNone/>
                      </a:pPr>
                      <a:r>
                        <a:rPr lang="en-IN" sz="1400"/>
                        <a:t>React.js, HTML5, CSS3, JavaScript</a:t>
                      </a:r>
                    </a:p>
                  </a:txBody>
                  <a:tcPr marL="59607" marR="59607" marT="29804" marB="29804" anchor="ctr"/>
                </a:tc>
                <a:tc>
                  <a:txBody>
                    <a:bodyPr/>
                    <a:lstStyle/>
                    <a:p>
                      <a:pPr>
                        <a:buNone/>
                      </a:pPr>
                      <a:r>
                        <a:rPr lang="en-IN" sz="1400" dirty="0"/>
                        <a:t>User interface</a:t>
                      </a:r>
                    </a:p>
                  </a:txBody>
                  <a:tcPr marL="59607" marR="59607" marT="29804" marB="29804" anchor="ctr"/>
                </a:tc>
                <a:extLst>
                  <a:ext uri="{0D108BD9-81ED-4DB2-BD59-A6C34878D82A}">
                    <a16:rowId xmlns:a16="http://schemas.microsoft.com/office/drawing/2014/main" val="629086346"/>
                  </a:ext>
                </a:extLst>
              </a:tr>
              <a:tr h="258256">
                <a:tc>
                  <a:txBody>
                    <a:bodyPr/>
                    <a:lstStyle/>
                    <a:p>
                      <a:pPr>
                        <a:buNone/>
                      </a:pPr>
                      <a:r>
                        <a:rPr lang="en-IN" sz="1400"/>
                        <a:t>Backend</a:t>
                      </a:r>
                    </a:p>
                  </a:txBody>
                  <a:tcPr marL="59607" marR="59607" marT="29804" marB="29804" anchor="ctr"/>
                </a:tc>
                <a:tc>
                  <a:txBody>
                    <a:bodyPr/>
                    <a:lstStyle/>
                    <a:p>
                      <a:pPr>
                        <a:buNone/>
                      </a:pPr>
                      <a:r>
                        <a:rPr lang="en-IN" sz="1400"/>
                        <a:t>Java, Spring Boot</a:t>
                      </a:r>
                    </a:p>
                  </a:txBody>
                  <a:tcPr marL="59607" marR="59607" marT="29804" marB="29804" anchor="ctr"/>
                </a:tc>
                <a:tc>
                  <a:txBody>
                    <a:bodyPr/>
                    <a:lstStyle/>
                    <a:p>
                      <a:pPr>
                        <a:buNone/>
                      </a:pPr>
                      <a:r>
                        <a:rPr lang="en-US" sz="1400" dirty="0"/>
                        <a:t>Application logic and REST APIs</a:t>
                      </a:r>
                    </a:p>
                  </a:txBody>
                  <a:tcPr marL="59607" marR="59607" marT="29804" marB="29804" anchor="ctr"/>
                </a:tc>
                <a:extLst>
                  <a:ext uri="{0D108BD9-81ED-4DB2-BD59-A6C34878D82A}">
                    <a16:rowId xmlns:a16="http://schemas.microsoft.com/office/drawing/2014/main" val="1960470273"/>
                  </a:ext>
                </a:extLst>
              </a:tr>
              <a:tr h="258256">
                <a:tc>
                  <a:txBody>
                    <a:bodyPr/>
                    <a:lstStyle/>
                    <a:p>
                      <a:pPr>
                        <a:buNone/>
                      </a:pPr>
                      <a:r>
                        <a:rPr lang="en-IN" sz="1400" dirty="0"/>
                        <a:t>Database</a:t>
                      </a:r>
                    </a:p>
                  </a:txBody>
                  <a:tcPr marL="59607" marR="59607" marT="29804" marB="29804" anchor="ctr"/>
                </a:tc>
                <a:tc>
                  <a:txBody>
                    <a:bodyPr/>
                    <a:lstStyle/>
                    <a:p>
                      <a:pPr>
                        <a:buNone/>
                      </a:pPr>
                      <a:r>
                        <a:rPr lang="en-IN" sz="1400"/>
                        <a:t>PostgreSQL</a:t>
                      </a:r>
                    </a:p>
                  </a:txBody>
                  <a:tcPr marL="59607" marR="59607" marT="29804" marB="29804" anchor="ctr"/>
                </a:tc>
                <a:tc>
                  <a:txBody>
                    <a:bodyPr/>
                    <a:lstStyle/>
                    <a:p>
                      <a:pPr>
                        <a:buNone/>
                      </a:pPr>
                      <a:r>
                        <a:rPr lang="en-IN" sz="1400"/>
                        <a:t>Structured data storage</a:t>
                      </a:r>
                    </a:p>
                  </a:txBody>
                  <a:tcPr marL="59607" marR="59607" marT="29804" marB="29804" anchor="ctr"/>
                </a:tc>
                <a:extLst>
                  <a:ext uri="{0D108BD9-81ED-4DB2-BD59-A6C34878D82A}">
                    <a16:rowId xmlns:a16="http://schemas.microsoft.com/office/drawing/2014/main" val="890728499"/>
                  </a:ext>
                </a:extLst>
              </a:tr>
              <a:tr h="258256">
                <a:tc>
                  <a:txBody>
                    <a:bodyPr/>
                    <a:lstStyle/>
                    <a:p>
                      <a:pPr>
                        <a:buNone/>
                      </a:pPr>
                      <a:r>
                        <a:rPr lang="en-IN" sz="1400"/>
                        <a:t>Version control</a:t>
                      </a:r>
                    </a:p>
                  </a:txBody>
                  <a:tcPr marL="59607" marR="59607" marT="29804" marB="29804" anchor="ctr"/>
                </a:tc>
                <a:tc>
                  <a:txBody>
                    <a:bodyPr/>
                    <a:lstStyle/>
                    <a:p>
                      <a:pPr>
                        <a:buNone/>
                      </a:pPr>
                      <a:r>
                        <a:rPr lang="en-IN" sz="1400"/>
                        <a:t>Git, GitHub</a:t>
                      </a:r>
                    </a:p>
                  </a:txBody>
                  <a:tcPr marL="59607" marR="59607" marT="29804" marB="29804" anchor="ctr"/>
                </a:tc>
                <a:tc>
                  <a:txBody>
                    <a:bodyPr/>
                    <a:lstStyle/>
                    <a:p>
                      <a:pPr>
                        <a:buNone/>
                      </a:pPr>
                      <a:r>
                        <a:rPr lang="en-IN" sz="1400" dirty="0"/>
                        <a:t>Source code management</a:t>
                      </a:r>
                    </a:p>
                  </a:txBody>
                  <a:tcPr marL="59607" marR="59607" marT="29804" marB="29804" anchor="ctr"/>
                </a:tc>
                <a:extLst>
                  <a:ext uri="{0D108BD9-81ED-4DB2-BD59-A6C34878D82A}">
                    <a16:rowId xmlns:a16="http://schemas.microsoft.com/office/drawing/2014/main" val="961905142"/>
                  </a:ext>
                </a:extLst>
              </a:tr>
              <a:tr h="444746">
                <a:tc>
                  <a:txBody>
                    <a:bodyPr/>
                    <a:lstStyle/>
                    <a:p>
                      <a:pPr>
                        <a:buNone/>
                      </a:pPr>
                      <a:r>
                        <a:rPr lang="en-IN" sz="1400"/>
                        <a:t>Containerization</a:t>
                      </a:r>
                    </a:p>
                  </a:txBody>
                  <a:tcPr marL="59607" marR="59607" marT="29804" marB="29804" anchor="ctr"/>
                </a:tc>
                <a:tc>
                  <a:txBody>
                    <a:bodyPr/>
                    <a:lstStyle/>
                    <a:p>
                      <a:pPr>
                        <a:buNone/>
                      </a:pPr>
                      <a:r>
                        <a:rPr lang="en-IN" sz="1400"/>
                        <a:t>Docker</a:t>
                      </a:r>
                    </a:p>
                  </a:txBody>
                  <a:tcPr marL="59607" marR="59607" marT="29804" marB="29804" anchor="ctr"/>
                </a:tc>
                <a:tc>
                  <a:txBody>
                    <a:bodyPr/>
                    <a:lstStyle/>
                    <a:p>
                      <a:pPr>
                        <a:buNone/>
                      </a:pPr>
                      <a:r>
                        <a:rPr lang="en-IN" sz="1400" dirty="0"/>
                        <a:t>Packaging application components</a:t>
                      </a:r>
                    </a:p>
                  </a:txBody>
                  <a:tcPr marL="59607" marR="59607" marT="29804" marB="29804" anchor="ctr"/>
                </a:tc>
                <a:extLst>
                  <a:ext uri="{0D108BD9-81ED-4DB2-BD59-A6C34878D82A}">
                    <a16:rowId xmlns:a16="http://schemas.microsoft.com/office/drawing/2014/main" val="1008124234"/>
                  </a:ext>
                </a:extLst>
              </a:tr>
              <a:tr h="444746">
                <a:tc>
                  <a:txBody>
                    <a:bodyPr/>
                    <a:lstStyle/>
                    <a:p>
                      <a:pPr>
                        <a:buNone/>
                      </a:pPr>
                      <a:r>
                        <a:rPr lang="en-IN" sz="1400"/>
                        <a:t>Orchestration</a:t>
                      </a:r>
                    </a:p>
                  </a:txBody>
                  <a:tcPr marL="59607" marR="59607" marT="29804" marB="29804" anchor="ctr"/>
                </a:tc>
                <a:tc>
                  <a:txBody>
                    <a:bodyPr/>
                    <a:lstStyle/>
                    <a:p>
                      <a:pPr>
                        <a:buNone/>
                      </a:pPr>
                      <a:r>
                        <a:rPr lang="en-IN" sz="1400"/>
                        <a:t>Kubernetes, Minikube</a:t>
                      </a:r>
                    </a:p>
                  </a:txBody>
                  <a:tcPr marL="59607" marR="59607" marT="29804" marB="29804" anchor="ctr"/>
                </a:tc>
                <a:tc>
                  <a:txBody>
                    <a:bodyPr/>
                    <a:lstStyle/>
                    <a:p>
                      <a:pPr>
                        <a:buNone/>
                      </a:pPr>
                      <a:r>
                        <a:rPr lang="en-IN" sz="1400"/>
                        <a:t>Container deployment and management</a:t>
                      </a:r>
                    </a:p>
                  </a:txBody>
                  <a:tcPr marL="59607" marR="59607" marT="29804" marB="29804" anchor="ctr"/>
                </a:tc>
                <a:extLst>
                  <a:ext uri="{0D108BD9-81ED-4DB2-BD59-A6C34878D82A}">
                    <a16:rowId xmlns:a16="http://schemas.microsoft.com/office/drawing/2014/main" val="3881976720"/>
                  </a:ext>
                </a:extLst>
              </a:tr>
              <a:tr h="444746">
                <a:tc>
                  <a:txBody>
                    <a:bodyPr/>
                    <a:lstStyle/>
                    <a:p>
                      <a:pPr>
                        <a:buNone/>
                      </a:pPr>
                      <a:r>
                        <a:rPr lang="en-IN" sz="1400"/>
                        <a:t>Package management</a:t>
                      </a:r>
                    </a:p>
                  </a:txBody>
                  <a:tcPr marL="59607" marR="59607" marT="29804" marB="29804" anchor="ctr"/>
                </a:tc>
                <a:tc>
                  <a:txBody>
                    <a:bodyPr/>
                    <a:lstStyle/>
                    <a:p>
                      <a:pPr>
                        <a:buNone/>
                      </a:pPr>
                      <a:r>
                        <a:rPr lang="en-IN" sz="1400"/>
                        <a:t>Helm</a:t>
                      </a:r>
                    </a:p>
                  </a:txBody>
                  <a:tcPr marL="59607" marR="59607" marT="29804" marB="29804" anchor="ctr"/>
                </a:tc>
                <a:tc>
                  <a:txBody>
                    <a:bodyPr/>
                    <a:lstStyle/>
                    <a:p>
                      <a:pPr>
                        <a:buNone/>
                      </a:pPr>
                      <a:r>
                        <a:rPr lang="en-IN" sz="1400" dirty="0"/>
                        <a:t>Kubernetes application packaging</a:t>
                      </a:r>
                    </a:p>
                  </a:txBody>
                  <a:tcPr marL="59607" marR="59607" marT="29804" marB="29804" anchor="ctr"/>
                </a:tc>
                <a:extLst>
                  <a:ext uri="{0D108BD9-81ED-4DB2-BD59-A6C34878D82A}">
                    <a16:rowId xmlns:a16="http://schemas.microsoft.com/office/drawing/2014/main" val="3109817673"/>
                  </a:ext>
                </a:extLst>
              </a:tr>
              <a:tr h="258256">
                <a:tc>
                  <a:txBody>
                    <a:bodyPr/>
                    <a:lstStyle/>
                    <a:p>
                      <a:pPr>
                        <a:buNone/>
                      </a:pPr>
                      <a:r>
                        <a:rPr lang="en-IN" sz="1400"/>
                        <a:t>CI/CD</a:t>
                      </a:r>
                    </a:p>
                  </a:txBody>
                  <a:tcPr marL="59607" marR="59607" marT="29804" marB="29804" anchor="ctr"/>
                </a:tc>
                <a:tc>
                  <a:txBody>
                    <a:bodyPr/>
                    <a:lstStyle/>
                    <a:p>
                      <a:pPr>
                        <a:buNone/>
                      </a:pPr>
                      <a:r>
                        <a:rPr lang="en-IN" sz="1400"/>
                        <a:t>GitHub Actions</a:t>
                      </a:r>
                    </a:p>
                  </a:txBody>
                  <a:tcPr marL="59607" marR="59607" marT="29804" marB="29804" anchor="ctr"/>
                </a:tc>
                <a:tc>
                  <a:txBody>
                    <a:bodyPr/>
                    <a:lstStyle/>
                    <a:p>
                      <a:pPr>
                        <a:buNone/>
                      </a:pPr>
                      <a:r>
                        <a:rPr lang="en-IN" sz="1400" dirty="0"/>
                        <a:t>Workflow automation</a:t>
                      </a:r>
                    </a:p>
                  </a:txBody>
                  <a:tcPr marL="59607" marR="59607" marT="29804" marB="29804" anchor="ctr"/>
                </a:tc>
                <a:extLst>
                  <a:ext uri="{0D108BD9-81ED-4DB2-BD59-A6C34878D82A}">
                    <a16:rowId xmlns:a16="http://schemas.microsoft.com/office/drawing/2014/main" val="2675921714"/>
                  </a:ext>
                </a:extLst>
              </a:tr>
              <a:tr h="444746">
                <a:tc>
                  <a:txBody>
                    <a:bodyPr/>
                    <a:lstStyle/>
                    <a:p>
                      <a:pPr>
                        <a:buNone/>
                      </a:pPr>
                      <a:r>
                        <a:rPr lang="en-IN" sz="1400"/>
                        <a:t>Security scanning</a:t>
                      </a:r>
                    </a:p>
                  </a:txBody>
                  <a:tcPr marL="59607" marR="59607" marT="29804" marB="29804" anchor="ctr"/>
                </a:tc>
                <a:tc>
                  <a:txBody>
                    <a:bodyPr/>
                    <a:lstStyle/>
                    <a:p>
                      <a:pPr>
                        <a:buNone/>
                      </a:pPr>
                      <a:r>
                        <a:rPr lang="en-IN" sz="1400" dirty="0" err="1"/>
                        <a:t>Trivy</a:t>
                      </a:r>
                      <a:endParaRPr lang="en-IN" sz="1400" dirty="0"/>
                    </a:p>
                  </a:txBody>
                  <a:tcPr marL="59607" marR="59607" marT="29804" marB="29804" anchor="ctr"/>
                </a:tc>
                <a:tc>
                  <a:txBody>
                    <a:bodyPr/>
                    <a:lstStyle/>
                    <a:p>
                      <a:pPr>
                        <a:buNone/>
                      </a:pPr>
                      <a:r>
                        <a:rPr lang="en-US" sz="1400" dirty="0"/>
                        <a:t>Container and dependency vulnerability scanning</a:t>
                      </a:r>
                    </a:p>
                  </a:txBody>
                  <a:tcPr marL="59607" marR="59607" marT="29804" marB="29804" anchor="ctr"/>
                </a:tc>
                <a:extLst>
                  <a:ext uri="{0D108BD9-81ED-4DB2-BD59-A6C34878D82A}">
                    <a16:rowId xmlns:a16="http://schemas.microsoft.com/office/drawing/2014/main" val="3037999367"/>
                  </a:ext>
                </a:extLst>
              </a:tr>
              <a:tr h="444746">
                <a:tc>
                  <a:txBody>
                    <a:bodyPr/>
                    <a:lstStyle/>
                    <a:p>
                      <a:pPr>
                        <a:buNone/>
                      </a:pPr>
                      <a:r>
                        <a:rPr lang="en-IN" sz="1400"/>
                        <a:t>GitOps</a:t>
                      </a:r>
                    </a:p>
                  </a:txBody>
                  <a:tcPr marL="59607" marR="59607" marT="29804" marB="29804" anchor="ctr"/>
                </a:tc>
                <a:tc>
                  <a:txBody>
                    <a:bodyPr/>
                    <a:lstStyle/>
                    <a:p>
                      <a:pPr>
                        <a:buNone/>
                      </a:pPr>
                      <a:r>
                        <a:rPr lang="en-IN" sz="1400"/>
                        <a:t>Argo CD</a:t>
                      </a:r>
                    </a:p>
                  </a:txBody>
                  <a:tcPr marL="59607" marR="59607" marT="29804" marB="29804" anchor="ctr"/>
                </a:tc>
                <a:tc>
                  <a:txBody>
                    <a:bodyPr/>
                    <a:lstStyle/>
                    <a:p>
                      <a:pPr>
                        <a:buNone/>
                      </a:pPr>
                      <a:r>
                        <a:rPr lang="en-IN" sz="1400" dirty="0"/>
                        <a:t>Declarative deployment management</a:t>
                      </a:r>
                    </a:p>
                  </a:txBody>
                  <a:tcPr marL="59607" marR="59607" marT="29804" marB="29804" anchor="ctr"/>
                </a:tc>
                <a:extLst>
                  <a:ext uri="{0D108BD9-81ED-4DB2-BD59-A6C34878D82A}">
                    <a16:rowId xmlns:a16="http://schemas.microsoft.com/office/drawing/2014/main" val="726748726"/>
                  </a:ext>
                </a:extLst>
              </a:tr>
              <a:tr h="444746">
                <a:tc>
                  <a:txBody>
                    <a:bodyPr/>
                    <a:lstStyle/>
                    <a:p>
                      <a:pPr>
                        <a:buNone/>
                      </a:pPr>
                      <a:r>
                        <a:rPr lang="en-IN" sz="1400"/>
                        <a:t>Monitoring</a:t>
                      </a:r>
                    </a:p>
                  </a:txBody>
                  <a:tcPr marL="59607" marR="59607" marT="29804" marB="29804" anchor="ctr"/>
                </a:tc>
                <a:tc>
                  <a:txBody>
                    <a:bodyPr/>
                    <a:lstStyle/>
                    <a:p>
                      <a:pPr>
                        <a:buNone/>
                      </a:pPr>
                      <a:r>
                        <a:rPr lang="en-IN" sz="1400"/>
                        <a:t>Prometheus, Grafana</a:t>
                      </a:r>
                    </a:p>
                  </a:txBody>
                  <a:tcPr marL="59607" marR="59607" marT="29804" marB="29804" anchor="ctr"/>
                </a:tc>
                <a:tc>
                  <a:txBody>
                    <a:bodyPr/>
                    <a:lstStyle/>
                    <a:p>
                      <a:pPr>
                        <a:buNone/>
                      </a:pPr>
                      <a:r>
                        <a:rPr lang="en-IN" sz="1400" dirty="0"/>
                        <a:t>Metrics collection and visualization</a:t>
                      </a:r>
                    </a:p>
                  </a:txBody>
                  <a:tcPr marL="59607" marR="59607" marT="29804" marB="29804" anchor="ctr"/>
                </a:tc>
                <a:extLst>
                  <a:ext uri="{0D108BD9-81ED-4DB2-BD59-A6C34878D82A}">
                    <a16:rowId xmlns:a16="http://schemas.microsoft.com/office/drawing/2014/main" val="1350014155"/>
                  </a:ext>
                </a:extLst>
              </a:tr>
              <a:tr h="258256">
                <a:tc>
                  <a:txBody>
                    <a:bodyPr/>
                    <a:lstStyle/>
                    <a:p>
                      <a:pPr>
                        <a:buNone/>
                      </a:pPr>
                      <a:r>
                        <a:rPr lang="en-IN" sz="1400"/>
                        <a:t>API testing</a:t>
                      </a:r>
                    </a:p>
                  </a:txBody>
                  <a:tcPr marL="59607" marR="59607" marT="29804" marB="29804" anchor="ctr"/>
                </a:tc>
                <a:tc>
                  <a:txBody>
                    <a:bodyPr/>
                    <a:lstStyle/>
                    <a:p>
                      <a:pPr>
                        <a:buNone/>
                      </a:pPr>
                      <a:r>
                        <a:rPr lang="en-IN" sz="1400"/>
                        <a:t>Postman</a:t>
                      </a:r>
                    </a:p>
                  </a:txBody>
                  <a:tcPr marL="59607" marR="59607" marT="29804" marB="29804" anchor="ctr"/>
                </a:tc>
                <a:tc>
                  <a:txBody>
                    <a:bodyPr/>
                    <a:lstStyle/>
                    <a:p>
                      <a:pPr>
                        <a:buNone/>
                      </a:pPr>
                      <a:r>
                        <a:rPr lang="en-US" sz="1400" dirty="0"/>
                        <a:t>API request and response testing</a:t>
                      </a:r>
                    </a:p>
                  </a:txBody>
                  <a:tcPr marL="59607" marR="59607" marT="29804" marB="29804" anchor="ctr"/>
                </a:tc>
                <a:extLst>
                  <a:ext uri="{0D108BD9-81ED-4DB2-BD59-A6C34878D82A}">
                    <a16:rowId xmlns:a16="http://schemas.microsoft.com/office/drawing/2014/main" val="3412889416"/>
                  </a:ext>
                </a:extLst>
              </a:tr>
            </a:tbl>
          </a:graphicData>
        </a:graphic>
      </p:graphicFrame>
    </p:spTree>
    <p:extLst>
      <p:ext uri="{BB962C8B-B14F-4D97-AF65-F5344CB8AC3E}">
        <p14:creationId xmlns:p14="http://schemas.microsoft.com/office/powerpoint/2010/main" val="35241353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A2C7A-D81F-52B5-8428-9E94918CC1B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A4E893F-9B6D-FBAD-782F-214EC18E10CA}"/>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Date Placeholder 1">
            <a:extLst>
              <a:ext uri="{FF2B5EF4-FFF2-40B4-BE49-F238E27FC236}">
                <a16:creationId xmlns:a16="http://schemas.microsoft.com/office/drawing/2014/main" id="{544DC19A-78EE-C972-2C24-4C02B39F576C}"/>
              </a:ext>
            </a:extLst>
          </p:cNvPr>
          <p:cNvSpPr>
            <a:spLocks noGrp="1"/>
          </p:cNvSpPr>
          <p:nvPr>
            <p:ph type="dt" sz="half" idx="10"/>
          </p:nvPr>
        </p:nvSpPr>
        <p:spPr/>
        <p:txBody>
          <a:bodyPr/>
          <a:lstStyle/>
          <a:p>
            <a:fld id="{A428917A-4773-4F0C-BADF-AB7FA9859A31}" type="datetime1">
              <a:rPr lang="en-US" smtClean="0"/>
              <a:t>10/29/2026</a:t>
            </a:fld>
            <a:endParaRPr lang="en-US"/>
          </a:p>
        </p:txBody>
      </p:sp>
      <p:sp>
        <p:nvSpPr>
          <p:cNvPr id="4" name="Footer Placeholder 3">
            <a:extLst>
              <a:ext uri="{FF2B5EF4-FFF2-40B4-BE49-F238E27FC236}">
                <a16:creationId xmlns:a16="http://schemas.microsoft.com/office/drawing/2014/main" id="{7EED3DA1-C71D-32C9-B00B-192EB2FACF26}"/>
              </a:ext>
            </a:extLst>
          </p:cNvPr>
          <p:cNvSpPr>
            <a:spLocks noGrp="1"/>
          </p:cNvSpPr>
          <p:nvPr>
            <p:ph type="ftr" sz="quarter" idx="11"/>
          </p:nvPr>
        </p:nvSpPr>
        <p:spPr/>
        <p:txBody>
          <a:bodyPr/>
          <a:lstStyle/>
          <a:p>
            <a:r>
              <a:rPr lang="en-US"/>
              <a:t>CNAD Project Review-1</a:t>
            </a:r>
          </a:p>
        </p:txBody>
      </p:sp>
      <p:sp>
        <p:nvSpPr>
          <p:cNvPr id="6" name="Slide Number Placeholder 5">
            <a:extLst>
              <a:ext uri="{FF2B5EF4-FFF2-40B4-BE49-F238E27FC236}">
                <a16:creationId xmlns:a16="http://schemas.microsoft.com/office/drawing/2014/main" id="{D07139BC-37B1-C76E-1F48-7FDEE7E8831B}"/>
              </a:ext>
            </a:extLst>
          </p:cNvPr>
          <p:cNvSpPr>
            <a:spLocks noGrp="1"/>
          </p:cNvSpPr>
          <p:nvPr>
            <p:ph type="sldNum" sz="quarter" idx="12"/>
          </p:nvPr>
        </p:nvSpPr>
        <p:spPr/>
        <p:txBody>
          <a:bodyPr/>
          <a:lstStyle/>
          <a:p>
            <a:fld id="{E639234F-78F1-4984-9C4D-D4C7AB587871}" type="slidenum">
              <a:rPr lang="en-US" smtClean="0"/>
              <a:t>10</a:t>
            </a:fld>
            <a:endParaRPr lang="en-US"/>
          </a:p>
        </p:txBody>
      </p:sp>
      <p:sp>
        <p:nvSpPr>
          <p:cNvPr id="8" name="Rectangle: Rounded Corners 7">
            <a:extLst>
              <a:ext uri="{FF2B5EF4-FFF2-40B4-BE49-F238E27FC236}">
                <a16:creationId xmlns:a16="http://schemas.microsoft.com/office/drawing/2014/main" id="{A71E9D58-DA3A-7D53-4E0E-B1DD1EE90B0D}"/>
              </a:ext>
            </a:extLst>
          </p:cNvPr>
          <p:cNvSpPr/>
          <p:nvPr/>
        </p:nvSpPr>
        <p:spPr>
          <a:xfrm>
            <a:off x="2682240" y="136525"/>
            <a:ext cx="6303999" cy="708443"/>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System Workflow</a:t>
            </a:r>
          </a:p>
        </p:txBody>
      </p:sp>
      <p:pic>
        <p:nvPicPr>
          <p:cNvPr id="13" name="Picture 12">
            <a:extLst>
              <a:ext uri="{FF2B5EF4-FFF2-40B4-BE49-F238E27FC236}">
                <a16:creationId xmlns:a16="http://schemas.microsoft.com/office/drawing/2014/main" id="{AD95108C-80E6-1832-05ED-905FE7D535B4}"/>
              </a:ext>
            </a:extLst>
          </p:cNvPr>
          <p:cNvPicPr>
            <a:picLocks noChangeAspect="1"/>
          </p:cNvPicPr>
          <p:nvPr/>
        </p:nvPicPr>
        <p:blipFill>
          <a:blip r:embed="rId3">
            <a:extLst>
              <a:ext uri="{28A0092B-C50C-407E-A947-70E740481C1C}">
                <a14:useLocalDpi xmlns:a14="http://schemas.microsoft.com/office/drawing/2010/main" val="0"/>
              </a:ext>
            </a:extLst>
          </a:blip>
          <a:srcRect l="4062" t="23889" r="25104" b="43888"/>
          <a:stretch>
            <a:fillRect/>
          </a:stretch>
        </p:blipFill>
        <p:spPr>
          <a:xfrm>
            <a:off x="313850" y="1536700"/>
            <a:ext cx="11564299" cy="2959100"/>
          </a:xfrm>
          <a:prstGeom prst="rect">
            <a:avLst/>
          </a:prstGeom>
        </p:spPr>
      </p:pic>
    </p:spTree>
    <p:extLst>
      <p:ext uri="{BB962C8B-B14F-4D97-AF65-F5344CB8AC3E}">
        <p14:creationId xmlns:p14="http://schemas.microsoft.com/office/powerpoint/2010/main" val="19785988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sp>
        <p:nvSpPr>
          <p:cNvPr id="3" name="Date Placeholder 2">
            <a:extLst>
              <a:ext uri="{FF2B5EF4-FFF2-40B4-BE49-F238E27FC236}">
                <a16:creationId xmlns:a16="http://schemas.microsoft.com/office/drawing/2014/main" id="{19AFF3A1-5C1B-139E-D79A-72B88478015A}"/>
              </a:ext>
            </a:extLst>
          </p:cNvPr>
          <p:cNvSpPr>
            <a:spLocks noGrp="1"/>
          </p:cNvSpPr>
          <p:nvPr>
            <p:ph type="dt" sz="half" idx="10"/>
          </p:nvPr>
        </p:nvSpPr>
        <p:spPr/>
        <p:txBody>
          <a:bodyPr/>
          <a:lstStyle/>
          <a:p>
            <a:fld id="{51F6ED1E-D5CF-4737-9463-A65281469B97}" type="datetime1">
              <a:rPr lang="en-US" smtClean="0"/>
              <a:t>10/29/2026</a:t>
            </a:fld>
            <a:endParaRPr lang="en-US"/>
          </a:p>
        </p:txBody>
      </p:sp>
      <p:sp>
        <p:nvSpPr>
          <p:cNvPr id="6" name="Footer Placeholder 5">
            <a:extLst>
              <a:ext uri="{FF2B5EF4-FFF2-40B4-BE49-F238E27FC236}">
                <a16:creationId xmlns:a16="http://schemas.microsoft.com/office/drawing/2014/main" id="{1E7EC70D-1363-E80E-D957-B7196CB13ADE}"/>
              </a:ext>
            </a:extLst>
          </p:cNvPr>
          <p:cNvSpPr>
            <a:spLocks noGrp="1"/>
          </p:cNvSpPr>
          <p:nvPr>
            <p:ph type="ftr" sz="quarter" idx="11"/>
          </p:nvPr>
        </p:nvSpPr>
        <p:spPr/>
        <p:txBody>
          <a:bodyPr/>
          <a:lstStyle/>
          <a:p>
            <a:r>
              <a:rPr lang="en-US"/>
              <a:t>CNAD Project Review-1</a:t>
            </a:r>
          </a:p>
        </p:txBody>
      </p:sp>
      <p:sp>
        <p:nvSpPr>
          <p:cNvPr id="7" name="Slide Number Placeholder 6">
            <a:extLst>
              <a:ext uri="{FF2B5EF4-FFF2-40B4-BE49-F238E27FC236}">
                <a16:creationId xmlns:a16="http://schemas.microsoft.com/office/drawing/2014/main" id="{8251C404-5E3A-5943-D47B-EDA9706D2992}"/>
              </a:ext>
            </a:extLst>
          </p:cNvPr>
          <p:cNvSpPr>
            <a:spLocks noGrp="1"/>
          </p:cNvSpPr>
          <p:nvPr>
            <p:ph type="sldNum" sz="quarter" idx="12"/>
          </p:nvPr>
        </p:nvSpPr>
        <p:spPr/>
        <p:txBody>
          <a:bodyPr/>
          <a:lstStyle/>
          <a:p>
            <a:fld id="{E639234F-78F1-4984-9C4D-D4C7AB587871}" type="slidenum">
              <a:rPr lang="en-US" smtClean="0"/>
              <a:t>11</a:t>
            </a:fld>
            <a:endParaRPr lang="en-US"/>
          </a:p>
        </p:txBody>
      </p:sp>
      <p:sp>
        <p:nvSpPr>
          <p:cNvPr id="9" name="Rectangle: Rounded Corners 8">
            <a:extLst>
              <a:ext uri="{FF2B5EF4-FFF2-40B4-BE49-F238E27FC236}">
                <a16:creationId xmlns:a16="http://schemas.microsoft.com/office/drawing/2014/main" id="{8DA611A3-C40B-C4D0-FC5B-A6E3CFDFC96B}"/>
              </a:ext>
            </a:extLst>
          </p:cNvPr>
          <p:cNvSpPr/>
          <p:nvPr/>
        </p:nvSpPr>
        <p:spPr>
          <a:xfrm>
            <a:off x="2682240" y="136525"/>
            <a:ext cx="6303999" cy="708443"/>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latin typeface="Times New Roman" panose="02020603050405020304" pitchFamily="18" charset="0"/>
                <a:cs typeface="Times New Roman" panose="02020603050405020304" pitchFamily="18" charset="0"/>
              </a:rPr>
              <a:t>Conclusion and Future Scope</a:t>
            </a:r>
            <a:endParaRPr lang="en-US" sz="2800" b="1" dirty="0">
              <a:latin typeface="Times New Roman" panose="02020603050405020304" pitchFamily="18" charset="0"/>
              <a:cs typeface="Times New Roman" panose="02020603050405020304" pitchFamily="18" charset="0"/>
            </a:endParaRPr>
          </a:p>
        </p:txBody>
      </p:sp>
      <p:sp>
        <p:nvSpPr>
          <p:cNvPr id="10" name="Rectangle 1">
            <a:extLst>
              <a:ext uri="{FF2B5EF4-FFF2-40B4-BE49-F238E27FC236}">
                <a16:creationId xmlns:a16="http://schemas.microsoft.com/office/drawing/2014/main" id="{DEE90524-7B78-39E1-2A90-B36B02F2A841}"/>
              </a:ext>
            </a:extLst>
          </p:cNvPr>
          <p:cNvSpPr>
            <a:spLocks noChangeArrowheads="1"/>
          </p:cNvSpPr>
          <p:nvPr/>
        </p:nvSpPr>
        <p:spPr bwMode="auto">
          <a:xfrm>
            <a:off x="439095" y="1649875"/>
            <a:ext cx="11143305"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Conclusion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By combining React.js, Spring Boot, PostgreSQL, microservices, Docker, and Kubernetes, the project demonstrates the application of cloud-native concepts to a socially relevant problem.</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system aims to improve coordination, modularity, deployment flexibility, and the ability to adapt to changing demand.</a:t>
            </a: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Future Scope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Introduce priority-based emergency request handling.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Add real-time notifications and status tracking.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Integrate external emergency services and relief organizations.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Improve monitoring, security, and automated deployment.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Evaluate performance and scalability under simulated disaster workloads.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188552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33634-B399-9A81-A821-EC7811F4FC4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6435B2F-231D-1085-0CCA-A0EC587E56EF}"/>
              </a:ext>
            </a:extLst>
          </p:cNvPr>
          <p:cNvPicPr>
            <a:picLocks noChangeAspect="1"/>
          </p:cNvPicPr>
          <p:nvPr/>
        </p:nvPicPr>
        <p:blipFill>
          <a:blip r:embed="rId2"/>
          <a:stretch>
            <a:fillRect/>
          </a:stretch>
        </p:blipFill>
        <p:spPr>
          <a:xfrm>
            <a:off x="10249380" y="0"/>
            <a:ext cx="1942620" cy="622550"/>
          </a:xfrm>
          <a:prstGeom prst="rect">
            <a:avLst/>
          </a:prstGeom>
        </p:spPr>
      </p:pic>
      <p:sp>
        <p:nvSpPr>
          <p:cNvPr id="3" name="Date Placeholder 2">
            <a:extLst>
              <a:ext uri="{FF2B5EF4-FFF2-40B4-BE49-F238E27FC236}">
                <a16:creationId xmlns:a16="http://schemas.microsoft.com/office/drawing/2014/main" id="{67605E9C-BBFF-4FB9-1E49-3ED9B5B62F61}"/>
              </a:ext>
            </a:extLst>
          </p:cNvPr>
          <p:cNvSpPr>
            <a:spLocks noGrp="1"/>
          </p:cNvSpPr>
          <p:nvPr>
            <p:ph type="dt" sz="half" idx="10"/>
          </p:nvPr>
        </p:nvSpPr>
        <p:spPr/>
        <p:txBody>
          <a:bodyPr/>
          <a:lstStyle/>
          <a:p>
            <a:fld id="{51F6ED1E-D5CF-4737-9463-A65281469B97}" type="datetime1">
              <a:rPr lang="en-US" smtClean="0"/>
              <a:t>10/29/2026</a:t>
            </a:fld>
            <a:endParaRPr lang="en-US"/>
          </a:p>
        </p:txBody>
      </p:sp>
      <p:sp>
        <p:nvSpPr>
          <p:cNvPr id="6" name="Footer Placeholder 5">
            <a:extLst>
              <a:ext uri="{FF2B5EF4-FFF2-40B4-BE49-F238E27FC236}">
                <a16:creationId xmlns:a16="http://schemas.microsoft.com/office/drawing/2014/main" id="{732300FE-3BBA-8CB6-949B-098D7B49F170}"/>
              </a:ext>
            </a:extLst>
          </p:cNvPr>
          <p:cNvSpPr>
            <a:spLocks noGrp="1"/>
          </p:cNvSpPr>
          <p:nvPr>
            <p:ph type="ftr" sz="quarter" idx="11"/>
          </p:nvPr>
        </p:nvSpPr>
        <p:spPr/>
        <p:txBody>
          <a:bodyPr/>
          <a:lstStyle/>
          <a:p>
            <a:r>
              <a:rPr lang="en-US"/>
              <a:t>CNAD Project Review-1</a:t>
            </a:r>
          </a:p>
        </p:txBody>
      </p:sp>
      <p:sp>
        <p:nvSpPr>
          <p:cNvPr id="7" name="Slide Number Placeholder 6">
            <a:extLst>
              <a:ext uri="{FF2B5EF4-FFF2-40B4-BE49-F238E27FC236}">
                <a16:creationId xmlns:a16="http://schemas.microsoft.com/office/drawing/2014/main" id="{E36683BB-E3FB-3D63-ECF0-BE67E09B4441}"/>
              </a:ext>
            </a:extLst>
          </p:cNvPr>
          <p:cNvSpPr>
            <a:spLocks noGrp="1"/>
          </p:cNvSpPr>
          <p:nvPr>
            <p:ph type="sldNum" sz="quarter" idx="12"/>
          </p:nvPr>
        </p:nvSpPr>
        <p:spPr/>
        <p:txBody>
          <a:bodyPr/>
          <a:lstStyle/>
          <a:p>
            <a:fld id="{E639234F-78F1-4984-9C4D-D4C7AB587871}" type="slidenum">
              <a:rPr lang="en-US" smtClean="0"/>
              <a:t>12</a:t>
            </a:fld>
            <a:endParaRPr lang="en-US"/>
          </a:p>
        </p:txBody>
      </p:sp>
      <p:sp>
        <p:nvSpPr>
          <p:cNvPr id="9" name="Rectangle: Rounded Corners 8">
            <a:extLst>
              <a:ext uri="{FF2B5EF4-FFF2-40B4-BE49-F238E27FC236}">
                <a16:creationId xmlns:a16="http://schemas.microsoft.com/office/drawing/2014/main" id="{9038A8BF-B3E2-7BCE-BC1B-4F7C66145ABA}"/>
              </a:ext>
            </a:extLst>
          </p:cNvPr>
          <p:cNvSpPr/>
          <p:nvPr/>
        </p:nvSpPr>
        <p:spPr>
          <a:xfrm>
            <a:off x="2682240" y="136525"/>
            <a:ext cx="6303999" cy="708443"/>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Times New Roman" panose="02020603050405020304" pitchFamily="18" charset="0"/>
                <a:cs typeface="Times New Roman" panose="02020603050405020304" pitchFamily="18" charset="0"/>
              </a:rPr>
              <a:t>Output</a:t>
            </a:r>
          </a:p>
        </p:txBody>
      </p:sp>
      <p:pic>
        <p:nvPicPr>
          <p:cNvPr id="5" name="Picture 4">
            <a:extLst>
              <a:ext uri="{FF2B5EF4-FFF2-40B4-BE49-F238E27FC236}">
                <a16:creationId xmlns:a16="http://schemas.microsoft.com/office/drawing/2014/main" id="{FF8DEE61-8A19-72CA-233F-7DB11C4C0A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235783"/>
            <a:ext cx="10365377" cy="4898149"/>
          </a:xfrm>
          <a:prstGeom prst="rect">
            <a:avLst/>
          </a:prstGeom>
        </p:spPr>
      </p:pic>
    </p:spTree>
    <p:extLst>
      <p:ext uri="{BB962C8B-B14F-4D97-AF65-F5344CB8AC3E}">
        <p14:creationId xmlns:p14="http://schemas.microsoft.com/office/powerpoint/2010/main" val="19953670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1BEF9-3435-2F73-727C-8F9CC2A5687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8C0AED1-AA93-B695-C161-96BDB9D11F69}"/>
              </a:ext>
            </a:extLst>
          </p:cNvPr>
          <p:cNvPicPr>
            <a:picLocks noChangeAspect="1"/>
          </p:cNvPicPr>
          <p:nvPr/>
        </p:nvPicPr>
        <p:blipFill>
          <a:blip r:embed="rId2"/>
          <a:stretch>
            <a:fillRect/>
          </a:stretch>
        </p:blipFill>
        <p:spPr>
          <a:xfrm>
            <a:off x="10249380" y="0"/>
            <a:ext cx="1942620" cy="622550"/>
          </a:xfrm>
          <a:prstGeom prst="rect">
            <a:avLst/>
          </a:prstGeom>
        </p:spPr>
      </p:pic>
      <p:sp>
        <p:nvSpPr>
          <p:cNvPr id="3" name="Date Placeholder 2">
            <a:extLst>
              <a:ext uri="{FF2B5EF4-FFF2-40B4-BE49-F238E27FC236}">
                <a16:creationId xmlns:a16="http://schemas.microsoft.com/office/drawing/2014/main" id="{A75BEA2D-0DAE-7191-355C-44CCEDA34668}"/>
              </a:ext>
            </a:extLst>
          </p:cNvPr>
          <p:cNvSpPr>
            <a:spLocks noGrp="1"/>
          </p:cNvSpPr>
          <p:nvPr>
            <p:ph type="dt" sz="half" idx="10"/>
          </p:nvPr>
        </p:nvSpPr>
        <p:spPr/>
        <p:txBody>
          <a:bodyPr/>
          <a:lstStyle/>
          <a:p>
            <a:fld id="{51F6ED1E-D5CF-4737-9463-A65281469B97}" type="datetime1">
              <a:rPr lang="en-US" smtClean="0"/>
              <a:t>10/29/2026</a:t>
            </a:fld>
            <a:endParaRPr lang="en-US"/>
          </a:p>
        </p:txBody>
      </p:sp>
      <p:sp>
        <p:nvSpPr>
          <p:cNvPr id="6" name="Footer Placeholder 5">
            <a:extLst>
              <a:ext uri="{FF2B5EF4-FFF2-40B4-BE49-F238E27FC236}">
                <a16:creationId xmlns:a16="http://schemas.microsoft.com/office/drawing/2014/main" id="{CFBB7C8B-E6B7-DFF3-FB00-F7ECF38EF0C3}"/>
              </a:ext>
            </a:extLst>
          </p:cNvPr>
          <p:cNvSpPr>
            <a:spLocks noGrp="1"/>
          </p:cNvSpPr>
          <p:nvPr>
            <p:ph type="ftr" sz="quarter" idx="11"/>
          </p:nvPr>
        </p:nvSpPr>
        <p:spPr/>
        <p:txBody>
          <a:bodyPr/>
          <a:lstStyle/>
          <a:p>
            <a:r>
              <a:rPr lang="en-US"/>
              <a:t>CNAD Project Review-1</a:t>
            </a:r>
          </a:p>
        </p:txBody>
      </p:sp>
      <p:sp>
        <p:nvSpPr>
          <p:cNvPr id="7" name="Slide Number Placeholder 6">
            <a:extLst>
              <a:ext uri="{FF2B5EF4-FFF2-40B4-BE49-F238E27FC236}">
                <a16:creationId xmlns:a16="http://schemas.microsoft.com/office/drawing/2014/main" id="{86ACCA26-577C-9D32-8ABA-E0DF11B58540}"/>
              </a:ext>
            </a:extLst>
          </p:cNvPr>
          <p:cNvSpPr>
            <a:spLocks noGrp="1"/>
          </p:cNvSpPr>
          <p:nvPr>
            <p:ph type="sldNum" sz="quarter" idx="12"/>
          </p:nvPr>
        </p:nvSpPr>
        <p:spPr/>
        <p:txBody>
          <a:bodyPr/>
          <a:lstStyle/>
          <a:p>
            <a:fld id="{E639234F-78F1-4984-9C4D-D4C7AB587871}" type="slidenum">
              <a:rPr lang="en-US" smtClean="0"/>
              <a:t>13</a:t>
            </a:fld>
            <a:endParaRPr lang="en-US"/>
          </a:p>
        </p:txBody>
      </p:sp>
      <p:sp>
        <p:nvSpPr>
          <p:cNvPr id="9" name="Rectangle: Rounded Corners 8">
            <a:extLst>
              <a:ext uri="{FF2B5EF4-FFF2-40B4-BE49-F238E27FC236}">
                <a16:creationId xmlns:a16="http://schemas.microsoft.com/office/drawing/2014/main" id="{28E6E2ED-01E6-506E-F0B8-8DCCA4524C5C}"/>
              </a:ext>
            </a:extLst>
          </p:cNvPr>
          <p:cNvSpPr/>
          <p:nvPr/>
        </p:nvSpPr>
        <p:spPr>
          <a:xfrm>
            <a:off x="2682240" y="136525"/>
            <a:ext cx="6303999" cy="708443"/>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Times New Roman" panose="02020603050405020304" pitchFamily="18" charset="0"/>
                <a:cs typeface="Times New Roman" panose="02020603050405020304" pitchFamily="18" charset="0"/>
              </a:rPr>
              <a:t>Output</a:t>
            </a:r>
          </a:p>
        </p:txBody>
      </p:sp>
      <p:pic>
        <p:nvPicPr>
          <p:cNvPr id="8" name="Picture 7">
            <a:extLst>
              <a:ext uri="{FF2B5EF4-FFF2-40B4-BE49-F238E27FC236}">
                <a16:creationId xmlns:a16="http://schemas.microsoft.com/office/drawing/2014/main" id="{6173A217-E632-C438-1DB1-316ED17EA1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8423" y="1044611"/>
            <a:ext cx="8600957" cy="4889678"/>
          </a:xfrm>
          <a:prstGeom prst="rect">
            <a:avLst/>
          </a:prstGeom>
        </p:spPr>
      </p:pic>
    </p:spTree>
    <p:extLst>
      <p:ext uri="{BB962C8B-B14F-4D97-AF65-F5344CB8AC3E}">
        <p14:creationId xmlns:p14="http://schemas.microsoft.com/office/powerpoint/2010/main" val="40102805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EB4E8-CFE5-4126-83E9-48B10651A08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993974A-1CDD-C10F-1B31-15388E99549B}"/>
              </a:ext>
            </a:extLst>
          </p:cNvPr>
          <p:cNvPicPr>
            <a:picLocks noChangeAspect="1"/>
          </p:cNvPicPr>
          <p:nvPr/>
        </p:nvPicPr>
        <p:blipFill>
          <a:blip r:embed="rId2"/>
          <a:stretch>
            <a:fillRect/>
          </a:stretch>
        </p:blipFill>
        <p:spPr>
          <a:xfrm>
            <a:off x="10249380" y="0"/>
            <a:ext cx="1942620" cy="622550"/>
          </a:xfrm>
          <a:prstGeom prst="rect">
            <a:avLst/>
          </a:prstGeom>
        </p:spPr>
      </p:pic>
      <p:sp>
        <p:nvSpPr>
          <p:cNvPr id="3" name="Date Placeholder 2">
            <a:extLst>
              <a:ext uri="{FF2B5EF4-FFF2-40B4-BE49-F238E27FC236}">
                <a16:creationId xmlns:a16="http://schemas.microsoft.com/office/drawing/2014/main" id="{E80F18F9-FB48-770A-6D2E-F5F40219D1BA}"/>
              </a:ext>
            </a:extLst>
          </p:cNvPr>
          <p:cNvSpPr>
            <a:spLocks noGrp="1"/>
          </p:cNvSpPr>
          <p:nvPr>
            <p:ph type="dt" sz="half" idx="10"/>
          </p:nvPr>
        </p:nvSpPr>
        <p:spPr/>
        <p:txBody>
          <a:bodyPr/>
          <a:lstStyle/>
          <a:p>
            <a:fld id="{51F6ED1E-D5CF-4737-9463-A65281469B97}" type="datetime1">
              <a:rPr lang="en-US" smtClean="0"/>
              <a:t>10/29/2026</a:t>
            </a:fld>
            <a:endParaRPr lang="en-US"/>
          </a:p>
        </p:txBody>
      </p:sp>
      <p:sp>
        <p:nvSpPr>
          <p:cNvPr id="6" name="Footer Placeholder 5">
            <a:extLst>
              <a:ext uri="{FF2B5EF4-FFF2-40B4-BE49-F238E27FC236}">
                <a16:creationId xmlns:a16="http://schemas.microsoft.com/office/drawing/2014/main" id="{BD71706B-B732-4A3E-A242-6ABF2ED985F2}"/>
              </a:ext>
            </a:extLst>
          </p:cNvPr>
          <p:cNvSpPr>
            <a:spLocks noGrp="1"/>
          </p:cNvSpPr>
          <p:nvPr>
            <p:ph type="ftr" sz="quarter" idx="11"/>
          </p:nvPr>
        </p:nvSpPr>
        <p:spPr/>
        <p:txBody>
          <a:bodyPr/>
          <a:lstStyle/>
          <a:p>
            <a:r>
              <a:rPr lang="en-US"/>
              <a:t>CNAD Project Review-1</a:t>
            </a:r>
          </a:p>
        </p:txBody>
      </p:sp>
      <p:sp>
        <p:nvSpPr>
          <p:cNvPr id="7" name="Slide Number Placeholder 6">
            <a:extLst>
              <a:ext uri="{FF2B5EF4-FFF2-40B4-BE49-F238E27FC236}">
                <a16:creationId xmlns:a16="http://schemas.microsoft.com/office/drawing/2014/main" id="{BAEB0789-D744-CFC9-D0B6-5F4ACB9605BE}"/>
              </a:ext>
            </a:extLst>
          </p:cNvPr>
          <p:cNvSpPr>
            <a:spLocks noGrp="1"/>
          </p:cNvSpPr>
          <p:nvPr>
            <p:ph type="sldNum" sz="quarter" idx="12"/>
          </p:nvPr>
        </p:nvSpPr>
        <p:spPr/>
        <p:txBody>
          <a:bodyPr/>
          <a:lstStyle/>
          <a:p>
            <a:fld id="{E639234F-78F1-4984-9C4D-D4C7AB587871}" type="slidenum">
              <a:rPr lang="en-US" smtClean="0"/>
              <a:t>14</a:t>
            </a:fld>
            <a:endParaRPr lang="en-US"/>
          </a:p>
        </p:txBody>
      </p:sp>
      <p:sp>
        <p:nvSpPr>
          <p:cNvPr id="9" name="Rectangle: Rounded Corners 8">
            <a:extLst>
              <a:ext uri="{FF2B5EF4-FFF2-40B4-BE49-F238E27FC236}">
                <a16:creationId xmlns:a16="http://schemas.microsoft.com/office/drawing/2014/main" id="{7364FCDA-6F1F-10AC-212A-AF1C0956400E}"/>
              </a:ext>
            </a:extLst>
          </p:cNvPr>
          <p:cNvSpPr/>
          <p:nvPr/>
        </p:nvSpPr>
        <p:spPr>
          <a:xfrm>
            <a:off x="2682240" y="136525"/>
            <a:ext cx="6303999" cy="708443"/>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Times New Roman" panose="02020603050405020304" pitchFamily="18" charset="0"/>
                <a:cs typeface="Times New Roman" panose="02020603050405020304" pitchFamily="18" charset="0"/>
              </a:rPr>
              <a:t>Output</a:t>
            </a:r>
          </a:p>
        </p:txBody>
      </p:sp>
      <p:pic>
        <p:nvPicPr>
          <p:cNvPr id="5" name="Picture 4">
            <a:extLst>
              <a:ext uri="{FF2B5EF4-FFF2-40B4-BE49-F238E27FC236}">
                <a16:creationId xmlns:a16="http://schemas.microsoft.com/office/drawing/2014/main" id="{48D2634C-E08D-E18C-E21B-99DF91590C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53155" y="1630524"/>
            <a:ext cx="8885690" cy="3596952"/>
          </a:xfrm>
          <a:prstGeom prst="rect">
            <a:avLst/>
          </a:prstGeom>
        </p:spPr>
      </p:pic>
    </p:spTree>
    <p:extLst>
      <p:ext uri="{BB962C8B-B14F-4D97-AF65-F5344CB8AC3E}">
        <p14:creationId xmlns:p14="http://schemas.microsoft.com/office/powerpoint/2010/main" val="32540991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14EF1-2E14-DA35-A1AB-5E1F7FF9AB6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088BAF2-7CA2-06C8-BAA0-E7A79CB14BC6}"/>
              </a:ext>
            </a:extLst>
          </p:cNvPr>
          <p:cNvPicPr>
            <a:picLocks noChangeAspect="1"/>
          </p:cNvPicPr>
          <p:nvPr/>
        </p:nvPicPr>
        <p:blipFill>
          <a:blip r:embed="rId2"/>
          <a:stretch>
            <a:fillRect/>
          </a:stretch>
        </p:blipFill>
        <p:spPr>
          <a:xfrm>
            <a:off x="10249380" y="0"/>
            <a:ext cx="1942620" cy="622550"/>
          </a:xfrm>
          <a:prstGeom prst="rect">
            <a:avLst/>
          </a:prstGeom>
        </p:spPr>
      </p:pic>
      <p:sp>
        <p:nvSpPr>
          <p:cNvPr id="3" name="Date Placeholder 2">
            <a:extLst>
              <a:ext uri="{FF2B5EF4-FFF2-40B4-BE49-F238E27FC236}">
                <a16:creationId xmlns:a16="http://schemas.microsoft.com/office/drawing/2014/main" id="{9A430E21-D738-2C5D-0B01-D2E81EAC765A}"/>
              </a:ext>
            </a:extLst>
          </p:cNvPr>
          <p:cNvSpPr>
            <a:spLocks noGrp="1"/>
          </p:cNvSpPr>
          <p:nvPr>
            <p:ph type="dt" sz="half" idx="10"/>
          </p:nvPr>
        </p:nvSpPr>
        <p:spPr/>
        <p:txBody>
          <a:bodyPr/>
          <a:lstStyle/>
          <a:p>
            <a:fld id="{51F6ED1E-D5CF-4737-9463-A65281469B97}" type="datetime1">
              <a:rPr lang="en-US" smtClean="0"/>
              <a:t>10/29/2026</a:t>
            </a:fld>
            <a:endParaRPr lang="en-US"/>
          </a:p>
        </p:txBody>
      </p:sp>
      <p:sp>
        <p:nvSpPr>
          <p:cNvPr id="6" name="Footer Placeholder 5">
            <a:extLst>
              <a:ext uri="{FF2B5EF4-FFF2-40B4-BE49-F238E27FC236}">
                <a16:creationId xmlns:a16="http://schemas.microsoft.com/office/drawing/2014/main" id="{BE183DFF-56C9-312D-75A5-52E33874224C}"/>
              </a:ext>
            </a:extLst>
          </p:cNvPr>
          <p:cNvSpPr>
            <a:spLocks noGrp="1"/>
          </p:cNvSpPr>
          <p:nvPr>
            <p:ph type="ftr" sz="quarter" idx="11"/>
          </p:nvPr>
        </p:nvSpPr>
        <p:spPr/>
        <p:txBody>
          <a:bodyPr/>
          <a:lstStyle/>
          <a:p>
            <a:r>
              <a:rPr lang="en-US"/>
              <a:t>CNAD Project Review-1</a:t>
            </a:r>
          </a:p>
        </p:txBody>
      </p:sp>
      <p:sp>
        <p:nvSpPr>
          <p:cNvPr id="7" name="Slide Number Placeholder 6">
            <a:extLst>
              <a:ext uri="{FF2B5EF4-FFF2-40B4-BE49-F238E27FC236}">
                <a16:creationId xmlns:a16="http://schemas.microsoft.com/office/drawing/2014/main" id="{99EB961A-605C-5AD7-A7D5-5DA52D093C1D}"/>
              </a:ext>
            </a:extLst>
          </p:cNvPr>
          <p:cNvSpPr>
            <a:spLocks noGrp="1"/>
          </p:cNvSpPr>
          <p:nvPr>
            <p:ph type="sldNum" sz="quarter" idx="12"/>
          </p:nvPr>
        </p:nvSpPr>
        <p:spPr/>
        <p:txBody>
          <a:bodyPr/>
          <a:lstStyle/>
          <a:p>
            <a:fld id="{E639234F-78F1-4984-9C4D-D4C7AB587871}" type="slidenum">
              <a:rPr lang="en-US" smtClean="0"/>
              <a:t>15</a:t>
            </a:fld>
            <a:endParaRPr lang="en-US"/>
          </a:p>
        </p:txBody>
      </p:sp>
      <p:sp>
        <p:nvSpPr>
          <p:cNvPr id="9" name="Rectangle: Rounded Corners 8">
            <a:extLst>
              <a:ext uri="{FF2B5EF4-FFF2-40B4-BE49-F238E27FC236}">
                <a16:creationId xmlns:a16="http://schemas.microsoft.com/office/drawing/2014/main" id="{E5CAAF6E-222A-C027-2467-6085AB1E29E1}"/>
              </a:ext>
            </a:extLst>
          </p:cNvPr>
          <p:cNvSpPr/>
          <p:nvPr/>
        </p:nvSpPr>
        <p:spPr>
          <a:xfrm>
            <a:off x="2682240" y="136525"/>
            <a:ext cx="6303999" cy="708443"/>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Times New Roman" panose="02020603050405020304" pitchFamily="18" charset="0"/>
                <a:cs typeface="Times New Roman" panose="02020603050405020304" pitchFamily="18" charset="0"/>
              </a:rPr>
              <a:t>GitHub Repo Link</a:t>
            </a:r>
          </a:p>
        </p:txBody>
      </p:sp>
      <p:sp>
        <p:nvSpPr>
          <p:cNvPr id="2" name="TextBox 1">
            <a:extLst>
              <a:ext uri="{FF2B5EF4-FFF2-40B4-BE49-F238E27FC236}">
                <a16:creationId xmlns:a16="http://schemas.microsoft.com/office/drawing/2014/main" id="{8028087B-7332-0586-5412-312691E1A652}"/>
              </a:ext>
            </a:extLst>
          </p:cNvPr>
          <p:cNvSpPr txBox="1"/>
          <p:nvPr/>
        </p:nvSpPr>
        <p:spPr>
          <a:xfrm>
            <a:off x="1587910" y="1651820"/>
            <a:ext cx="7565922" cy="461665"/>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GitHub Link: </a:t>
            </a:r>
            <a:r>
              <a:rPr lang="en-IN" b="1" dirty="0"/>
              <a:t>https://github.com/Suchita-90122/CNAD-cloudaid-.git</a:t>
            </a:r>
          </a:p>
        </p:txBody>
      </p:sp>
    </p:spTree>
    <p:extLst>
      <p:ext uri="{BB962C8B-B14F-4D97-AF65-F5344CB8AC3E}">
        <p14:creationId xmlns:p14="http://schemas.microsoft.com/office/powerpoint/2010/main" val="40448483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223</TotalTime>
  <Words>1252</Words>
  <Application>Microsoft Office PowerPoint</Application>
  <PresentationFormat>Widescreen</PresentationFormat>
  <Paragraphs>193</Paragraphs>
  <Slides>15</Slides>
  <Notes>3</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15</vt:i4>
      </vt:variant>
    </vt:vector>
  </HeadingPairs>
  <TitlesOfParts>
    <vt:vector size="23" baseType="lpstr">
      <vt:lpstr>Aptos</vt:lpstr>
      <vt:lpstr>Aptos Display</vt:lpstr>
      <vt:lpstr>Arial</vt:lpstr>
      <vt:lpstr>Calibri</vt:lpstr>
      <vt:lpstr>Calibri Light</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suchita nair</cp:lastModifiedBy>
  <cp:revision>41</cp:revision>
  <dcterms:created xsi:type="dcterms:W3CDTF">2026-08-08T06:33:56Z</dcterms:created>
  <dcterms:modified xsi:type="dcterms:W3CDTF">2026-10-29T05:36:23Z</dcterms:modified>
</cp:coreProperties>
</file>